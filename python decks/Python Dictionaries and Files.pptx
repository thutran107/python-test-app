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Poppins"/>
      <p:regular r:id="rId52"/>
      <p:bold r:id="rId53"/>
      <p:italic r:id="rId54"/>
      <p:boldItalic r:id="rId55"/>
    </p:embeddedFont>
    <p:embeddedFont>
      <p:font typeface="Helvetica Neue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Poppins-bold.fntdata"/><Relationship Id="rId52" Type="http://schemas.openxmlformats.org/officeDocument/2006/relationships/font" Target="fonts/Poppins-regular.fntdata"/><Relationship Id="rId11" Type="http://schemas.openxmlformats.org/officeDocument/2006/relationships/slide" Target="slides/slide6.xml"/><Relationship Id="rId55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-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b11461d6a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b11461d6a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b11461d6a_1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b11461d6a_1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b11461d6a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b11461d6a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b11461d6a_1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b11461d6a_1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b11461d6a_1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b11461d6a_1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b11461d6a_1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b11461d6a_1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b11461d6a_1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b11461d6a_1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11461d6a_1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b11461d6a_1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b11461d6a_1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b11461d6a_1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b11461d6a_1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b11461d6a_1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b11461d6a_1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b11461d6a_1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b11461d6a_1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b11461d6a_1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b11461d6a_1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b11461d6a_1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b11461d6a_1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b11461d6a_1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b11461d6a_1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b11461d6a_1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b11461d6a_1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b11461d6a_1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slide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slide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b11461d6a_1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b11461d6a_1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b11461d6a_1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b11461d6a_1_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b11461d6a_1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b11461d6a_1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slide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slide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lide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lide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b11461d6a_1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b11461d6a_1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b11461d6a_1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b11461d6a_1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b11461d6a_1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b11461d6a_1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b11461d6a_1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b11461d6a_1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slide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slide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slide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slide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slide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slide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b11461d6a_1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b11461d6a_1_1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b11461d6a_1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b11461d6a_1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slide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slide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slide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slide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b11461d6a_1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cb11461d6a_1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slide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slide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slide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slide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08be09029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08be09029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11200" y="0"/>
            <a:ext cx="9144000" cy="5143500"/>
          </a:xfrm>
          <a:prstGeom prst="rect">
            <a:avLst/>
          </a:prstGeom>
          <a:solidFill>
            <a:srgbClr val="49A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oppins"/>
              <a:buNone/>
              <a:defRPr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Dictionaries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Files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Curriculum Checkpoint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583500" y="1294225"/>
            <a:ext cx="30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Keep going!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FF"/>
                </a:solidFill>
              </a:rPr>
              <a:t>Almost there!</a:t>
            </a:r>
            <a:endParaRPr sz="1800">
              <a:solidFill>
                <a:srgbClr val="FF00FF"/>
              </a:solidFill>
            </a:endParaRPr>
          </a:p>
        </p:txBody>
      </p:sp>
      <p:pic>
        <p:nvPicPr>
          <p:cNvPr id="73" name="Google Shape;73;p16" title="Screenshot 2026-02-25 at 9.19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850" y="1017725"/>
            <a:ext cx="433271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Dict Hash Table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Dictionaries in Python</a:t>
            </a:r>
            <a:endParaRPr sz="2520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A Python dictionary, called a </a:t>
            </a:r>
            <a:r>
              <a:rPr lang="en-US" sz="1600">
                <a:solidFill>
                  <a:schemeClr val="accent4"/>
                </a:solidFill>
              </a:rPr>
              <a:t>dict</a:t>
            </a:r>
            <a:r>
              <a:rPr lang="en-US" sz="1600"/>
              <a:t>, stores information as </a:t>
            </a:r>
            <a:r>
              <a:rPr lang="en-US" sz="1600">
                <a:solidFill>
                  <a:schemeClr val="accent4"/>
                </a:solidFill>
              </a:rPr>
              <a:t>key/value pairs</a:t>
            </a:r>
            <a:r>
              <a:rPr lang="en-US" sz="1600"/>
              <a:t> so you can quickly find a value later by using its key.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Often described as a </a:t>
            </a:r>
            <a:r>
              <a:rPr lang="en-US" sz="1600">
                <a:solidFill>
                  <a:srgbClr val="FF00FF"/>
                </a:solidFill>
              </a:rPr>
              <a:t>hash table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Designed for fast lookups and updates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You can think of a </a:t>
            </a:r>
            <a:r>
              <a:rPr lang="en-US" sz="1600">
                <a:solidFill>
                  <a:schemeClr val="accent4"/>
                </a:solidFill>
              </a:rPr>
              <a:t>dict</a:t>
            </a:r>
            <a:r>
              <a:rPr lang="en-US" sz="1600"/>
              <a:t> like a labeled cabinet where each label (the key) points to a stored item (the value) without searching sequentially.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rgbClr val="FF00FF"/>
                </a:solidFill>
              </a:rPr>
              <a:t>Keys</a:t>
            </a:r>
            <a:r>
              <a:rPr lang="en-US" sz="1600"/>
              <a:t> act like names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rgbClr val="FF00FF"/>
                </a:solidFill>
              </a:rPr>
              <a:t>Values</a:t>
            </a:r>
            <a:r>
              <a:rPr lang="en-US" sz="1600"/>
              <a:t> hold the associated data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</a:t>
            </a:r>
            <a:r>
              <a:rPr lang="en-US" sz="1600">
                <a:solidFill>
                  <a:schemeClr val="accent4"/>
                </a:solidFill>
              </a:rPr>
              <a:t>Dicts </a:t>
            </a:r>
            <a:r>
              <a:rPr lang="en-US" sz="1600"/>
              <a:t>are especially useful when your data arrives in a scattered order, because you can organize it immediately into a structure that is easy to query.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 ◦ Great for grouping, counting, and indexing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Creating Dictionaries and Choosing Keys and Values</a:t>
            </a:r>
            <a:endParaRPr sz="2520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A dictionary literal is written with braces containing key:value pairs, such as </a:t>
            </a:r>
            <a:r>
              <a:rPr lang="en-US" sz="1400">
                <a:solidFill>
                  <a:schemeClr val="accent5"/>
                </a:solidFill>
              </a:rPr>
              <a:t>{'a': 1, 'b': 2}</a:t>
            </a:r>
            <a:r>
              <a:rPr lang="en-US" sz="1400"/>
              <a:t>, and an empty dictionary is simply </a:t>
            </a:r>
            <a:r>
              <a:rPr lang="en-US" sz="1400">
                <a:solidFill>
                  <a:schemeClr val="accent5"/>
                </a:solidFill>
              </a:rPr>
              <a:t>{}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Braces </a:t>
            </a:r>
            <a:r>
              <a:rPr lang="en-US" sz="1400">
                <a:solidFill>
                  <a:schemeClr val="accent5"/>
                </a:solidFill>
              </a:rPr>
              <a:t>{ } </a:t>
            </a:r>
            <a:r>
              <a:rPr lang="en-US" sz="1400"/>
              <a:t>indicate a </a:t>
            </a:r>
            <a:r>
              <a:rPr lang="en-US" sz="1400">
                <a:solidFill>
                  <a:schemeClr val="accent4"/>
                </a:solidFill>
              </a:rPr>
              <a:t>dict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Pairs use a colon between key and value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Dictionary keys should be immutable types like strings, numbers, or tuples, because keys must stay stable so the dictionary can reliably find them later.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4"/>
                </a:solidFill>
              </a:rPr>
              <a:t>Strings </a:t>
            </a:r>
            <a:r>
              <a:rPr lang="en-US" sz="1400"/>
              <a:t>and </a:t>
            </a:r>
            <a:r>
              <a:rPr lang="en-US" sz="1400">
                <a:solidFill>
                  <a:schemeClr val="accent4"/>
                </a:solidFill>
              </a:rPr>
              <a:t>tuples</a:t>
            </a:r>
            <a:r>
              <a:rPr lang="en-US" sz="1400"/>
              <a:t> are common </a:t>
            </a:r>
            <a:r>
              <a:rPr lang="en-US" sz="1400">
                <a:solidFill>
                  <a:srgbClr val="FF00FF"/>
                </a:solidFill>
              </a:rPr>
              <a:t>keys</a:t>
            </a:r>
            <a:endParaRPr sz="1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rgbClr val="FF00FF"/>
                </a:solidFill>
              </a:rPr>
              <a:t>Values</a:t>
            </a:r>
            <a:r>
              <a:rPr lang="en-US" sz="1400"/>
              <a:t> can be any Python type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You can build a dictionary gradually by starting with </a:t>
            </a:r>
            <a:r>
              <a:rPr lang="en-US" sz="1400">
                <a:solidFill>
                  <a:schemeClr val="accent5"/>
                </a:solidFill>
              </a:rPr>
              <a:t>{}</a:t>
            </a:r>
            <a:r>
              <a:rPr lang="en-US" sz="1400"/>
              <a:t> and then assigning new key/value pairs using square brackets as you discover or compute new data.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Pattern: </a:t>
            </a:r>
            <a:r>
              <a:rPr lang="en-US" sz="1400">
                <a:solidFill>
                  <a:srgbClr val="FF00FF"/>
                </a:solidFill>
              </a:rPr>
              <a:t>d[key] = value</a:t>
            </a:r>
            <a:endParaRPr sz="1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Useful while reading files or processing input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Looking Up Values Safely: Brackets, </a:t>
            </a:r>
            <a:r>
              <a:rPr lang="en-US" sz="2520">
                <a:solidFill>
                  <a:schemeClr val="accent5"/>
                </a:solidFill>
              </a:rPr>
              <a:t>in,</a:t>
            </a:r>
            <a:r>
              <a:rPr lang="en-US" sz="2520"/>
              <a:t> and </a:t>
            </a:r>
            <a:r>
              <a:rPr lang="en-US" sz="2520">
                <a:solidFill>
                  <a:schemeClr val="accent5"/>
                </a:solidFill>
              </a:rPr>
              <a:t>get()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To retrieve or set a value in a dict you use square brackets, so </a:t>
            </a:r>
            <a:r>
              <a:rPr lang="en-US" sz="1400">
                <a:solidFill>
                  <a:schemeClr val="accent5"/>
                </a:solidFill>
              </a:rPr>
              <a:t>d['foo'] </a:t>
            </a:r>
            <a:r>
              <a:rPr lang="en-US" sz="1400"/>
              <a:t>looks up the value under the key </a:t>
            </a:r>
            <a:r>
              <a:rPr lang="en-US" sz="1400">
                <a:solidFill>
                  <a:srgbClr val="FF00FF"/>
                </a:solidFill>
              </a:rPr>
              <a:t>'foo' </a:t>
            </a:r>
            <a:r>
              <a:rPr lang="en-US" sz="1400"/>
              <a:t>and </a:t>
            </a:r>
            <a:r>
              <a:rPr lang="en-US" sz="1400">
                <a:solidFill>
                  <a:schemeClr val="accent5"/>
                </a:solidFill>
              </a:rPr>
              <a:t>d['foo'] = 7</a:t>
            </a:r>
            <a:r>
              <a:rPr lang="en-US" sz="1400"/>
              <a:t> updates it.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Same syntax works for reading and writing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Updates overwrite existing values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If you try to look up a key that is not present, Python raises a KeyError, so you should </a:t>
            </a:r>
            <a:r>
              <a:rPr lang="en-US" sz="1400">
                <a:solidFill>
                  <a:schemeClr val="accent4"/>
                </a:solidFill>
              </a:rPr>
              <a:t>check membership before indexing when a key might be missing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Membership test: 'k' </a:t>
            </a:r>
            <a:r>
              <a:rPr lang="en-US" sz="1400">
                <a:solidFill>
                  <a:schemeClr val="accent5"/>
                </a:solidFill>
              </a:rPr>
              <a:t>in</a:t>
            </a:r>
            <a:r>
              <a:rPr lang="en-US" sz="1400"/>
              <a:t> 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Avoids unexpected crashes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The method </a:t>
            </a:r>
            <a:r>
              <a:rPr lang="en-US" sz="1400">
                <a:solidFill>
                  <a:schemeClr val="accent5"/>
                </a:solidFill>
              </a:rPr>
              <a:t>d.get(key)</a:t>
            </a:r>
            <a:r>
              <a:rPr lang="en-US" sz="1400"/>
              <a:t> returns the </a:t>
            </a:r>
            <a:r>
              <a:rPr lang="en-US" sz="1400">
                <a:solidFill>
                  <a:schemeClr val="accent4"/>
                </a:solidFill>
              </a:rPr>
              <a:t>value when the key exists, and returns None when it does not</a:t>
            </a:r>
            <a:r>
              <a:rPr lang="en-US" sz="1400"/>
              <a:t>, while </a:t>
            </a:r>
            <a:r>
              <a:rPr lang="en-US" sz="1400">
                <a:solidFill>
                  <a:schemeClr val="accent5"/>
                </a:solidFill>
              </a:rPr>
              <a:t>d.get(key, default)</a:t>
            </a:r>
            <a:r>
              <a:rPr lang="en-US" sz="1400"/>
              <a:t> lets you choose the fallback.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No KeyError when missing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Custom default value is optional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Building a Dictionary</a:t>
            </a:r>
            <a:endParaRPr sz="2520"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Can build up a dict by starting with the empty dict {}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and storing key/value pairs into the dict like this: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dict[key] = value-for-that-key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dict = {}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dict['a'] = 'alpha'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dict['g'] = 'gamma'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dict['o'] = 'omega'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print(dict)</a:t>
            </a:r>
            <a:r>
              <a:rPr lang="en-US" sz="1400"/>
              <a:t> </a:t>
            </a:r>
            <a:r>
              <a:rPr lang="en-US" sz="1400">
                <a:solidFill>
                  <a:schemeClr val="accent4"/>
                </a:solidFill>
              </a:rPr>
              <a:t>## {'a': 'alpha', 'o': 'omega', 'g': 'gamma'}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</a:t>
            </a:r>
            <a:endParaRPr sz="1400"/>
          </a:p>
        </p:txBody>
      </p:sp>
      <p:pic>
        <p:nvPicPr>
          <p:cNvPr id="103" name="Google Shape;103;p21" title="Screenshot 2026-02-25 at 9.52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900" y="2034100"/>
            <a:ext cx="4275799" cy="18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Accessing a Dictionary</a:t>
            </a:r>
            <a:endParaRPr sz="252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print(dict['a']) </a:t>
            </a:r>
            <a:r>
              <a:rPr lang="en-US" sz="1400"/>
              <a:t>    </a:t>
            </a:r>
            <a:r>
              <a:rPr lang="en-US" sz="1400">
                <a:solidFill>
                  <a:schemeClr val="accent4"/>
                </a:solidFill>
              </a:rPr>
              <a:t>## Simple lookup, returns 'alpha'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</a:t>
            </a:r>
            <a:r>
              <a:rPr lang="en-US" sz="1400">
                <a:solidFill>
                  <a:schemeClr val="accent5"/>
                </a:solidFill>
              </a:rPr>
              <a:t> dict['a'] = 6  </a:t>
            </a:r>
            <a:r>
              <a:rPr lang="en-US" sz="1400"/>
              <a:t>     </a:t>
            </a:r>
            <a:r>
              <a:rPr lang="en-US" sz="1400">
                <a:solidFill>
                  <a:schemeClr val="accent4"/>
                </a:solidFill>
              </a:rPr>
              <a:t>## Put new key/value into dict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'a' in dict     </a:t>
            </a:r>
            <a:r>
              <a:rPr lang="en-US" sz="1400"/>
              <a:t>    </a:t>
            </a:r>
            <a:r>
              <a:rPr lang="en-US" sz="1400">
                <a:solidFill>
                  <a:schemeClr val="accent4"/>
                </a:solidFill>
              </a:rPr>
              <a:t>## True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rgbClr val="FF00FF"/>
                </a:solidFill>
              </a:rPr>
              <a:t>print(dict['z'])  </a:t>
            </a:r>
            <a:r>
              <a:rPr lang="en-US" sz="1400">
                <a:solidFill>
                  <a:schemeClr val="accent4"/>
                </a:solidFill>
              </a:rPr>
              <a:t>                ## Throws KeyError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if 'z' in dict: print(dict['z'])  </a:t>
            </a:r>
            <a:r>
              <a:rPr lang="en-US" sz="1400"/>
              <a:t>   </a:t>
            </a:r>
            <a:r>
              <a:rPr lang="en-US" sz="1400">
                <a:solidFill>
                  <a:schemeClr val="accent4"/>
                </a:solidFill>
              </a:rPr>
              <a:t>## Avoid KeyError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</a:t>
            </a:r>
            <a:r>
              <a:rPr lang="en-US" sz="1400">
                <a:solidFill>
                  <a:schemeClr val="accent5"/>
                </a:solidFill>
              </a:rPr>
              <a:t> print(dict.get('z')) </a:t>
            </a:r>
            <a:r>
              <a:rPr lang="en-US" sz="1400"/>
              <a:t> </a:t>
            </a:r>
            <a:r>
              <a:rPr lang="en-US" sz="1400">
                <a:solidFill>
                  <a:schemeClr val="accent4"/>
                </a:solidFill>
              </a:rPr>
              <a:t>## None (instead of KeyError)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Screenshot 2026-02-25 at 10.00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00" y="251025"/>
            <a:ext cx="6978674" cy="25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3" title="Screenshot 2026-02-25 at 10.01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9325" y="3232550"/>
            <a:ext cx="5853701" cy="14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 title="Screenshot 2026-02-25 at 10.02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58023" cy="23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 title="Screenshot 2026-02-25 at 10.02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225" y="2786375"/>
            <a:ext cx="5917574" cy="16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 title="Screenshot 2026-02-25 at 10.02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00" y="163050"/>
            <a:ext cx="7408452" cy="16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 title="Screenshot 2026-02-25 at 10.03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150" y="2438525"/>
            <a:ext cx="5640699" cy="18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460425" y="1024550"/>
            <a:ext cx="852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0000FF"/>
                </a:highlight>
              </a:rPr>
              <a:t>profile = {'username': 'coder123', 'level': 5}</a:t>
            </a:r>
            <a:endParaRPr sz="2000">
              <a:solidFill>
                <a:schemeClr val="dk1"/>
              </a:solidFill>
              <a:highlight>
                <a:srgbClr val="0000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 title="Screenshot 2026-02-25 at 10.04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929224" cy="41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3695225" y="4504550"/>
            <a:ext cx="547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Answer on next slide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 title="Screenshot 2026-02-25 at 10.05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00" y="197950"/>
            <a:ext cx="5703050" cy="29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 title="Screenshot 2026-02-25 at 10.06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4825" y="3225751"/>
            <a:ext cx="6403625" cy="17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Looping Through a Dictionary: Iterate over Keys</a:t>
            </a:r>
            <a:endParaRPr sz="2520"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A for </a:t>
            </a:r>
            <a:r>
              <a:rPr lang="en-US" sz="1400">
                <a:solidFill>
                  <a:schemeClr val="accent4"/>
                </a:solidFill>
              </a:rPr>
              <a:t>loop over a dictionary</a:t>
            </a:r>
            <a:r>
              <a:rPr lang="en-US" sz="1400"/>
              <a:t> iterates over the keys by default, which means </a:t>
            </a:r>
            <a:r>
              <a:rPr lang="en-US" sz="1400">
                <a:solidFill>
                  <a:schemeClr val="accent5"/>
                </a:solidFill>
              </a:rPr>
              <a:t>for key in d </a:t>
            </a:r>
            <a:r>
              <a:rPr lang="en-US" sz="1400"/>
              <a:t>gives you </a:t>
            </a:r>
            <a:r>
              <a:rPr lang="en-US" sz="1400">
                <a:solidFill>
                  <a:schemeClr val="accent4"/>
                </a:solidFill>
              </a:rPr>
              <a:t>keys </a:t>
            </a:r>
            <a:r>
              <a:rPr lang="en-US" sz="1400"/>
              <a:t>you can use to look up each value.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Default iteration returns keys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Common pattern: </a:t>
            </a:r>
            <a:r>
              <a:rPr lang="en-US" sz="1400">
                <a:solidFill>
                  <a:schemeClr val="accent5"/>
                </a:solidFill>
              </a:rPr>
              <a:t>d[key]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The </a:t>
            </a:r>
            <a:r>
              <a:rPr lang="en-US" sz="1400">
                <a:solidFill>
                  <a:srgbClr val="FF00FF"/>
                </a:solidFill>
              </a:rPr>
              <a:t>order of keys </a:t>
            </a:r>
            <a:r>
              <a:rPr lang="en-US" sz="1400"/>
              <a:t>during iteration should be treated as </a:t>
            </a:r>
            <a:r>
              <a:rPr lang="en-US" sz="1400">
                <a:solidFill>
                  <a:srgbClr val="FF00FF"/>
                </a:solidFill>
              </a:rPr>
              <a:t>arbitrary </a:t>
            </a:r>
            <a:r>
              <a:rPr lang="en-US" sz="1400"/>
              <a:t>in this context, so you should not rely on the printed order to mean anything important.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Order can vary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Sort when you need consistent output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Looping Through a Dictionary: Keys, Values, and Items</a:t>
            </a:r>
            <a:endParaRPr sz="2520"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methods </a:t>
            </a:r>
            <a:r>
              <a:rPr lang="en-US" sz="1400">
                <a:solidFill>
                  <a:schemeClr val="accent5"/>
                </a:solidFill>
              </a:rPr>
              <a:t>d.keys() </a:t>
            </a:r>
            <a:r>
              <a:rPr lang="en-US" sz="1400"/>
              <a:t>and </a:t>
            </a:r>
            <a:r>
              <a:rPr lang="en-US" sz="1400">
                <a:solidFill>
                  <a:schemeClr val="accent5"/>
                </a:solidFill>
              </a:rPr>
              <a:t>d.values() </a:t>
            </a:r>
            <a:r>
              <a:rPr lang="en-US" sz="1400"/>
              <a:t>provide explicit views of all keys or all values, while </a:t>
            </a:r>
            <a:r>
              <a:rPr lang="en-US" sz="1400">
                <a:solidFill>
                  <a:schemeClr val="accent5"/>
                </a:solidFill>
              </a:rPr>
              <a:t>d.items() </a:t>
            </a:r>
            <a:r>
              <a:rPr lang="en-US" sz="1400"/>
              <a:t>provides </a:t>
            </a:r>
            <a:r>
              <a:rPr lang="en-US" sz="1400">
                <a:solidFill>
                  <a:schemeClr val="accent4"/>
                </a:solidFill>
              </a:rPr>
              <a:t>key/value pairs </a:t>
            </a:r>
            <a:r>
              <a:rPr lang="en-US" sz="1400"/>
              <a:t>for efficient full inspection.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</a:t>
            </a:r>
            <a:r>
              <a:rPr lang="en-US" sz="1400">
                <a:solidFill>
                  <a:schemeClr val="accent5"/>
                </a:solidFill>
              </a:rPr>
              <a:t> items() </a:t>
            </a:r>
            <a:r>
              <a:rPr lang="en-US" sz="1400"/>
              <a:t>yields </a:t>
            </a:r>
            <a:r>
              <a:rPr lang="en-US" sz="1400">
                <a:solidFill>
                  <a:schemeClr val="accent4"/>
                </a:solidFill>
              </a:rPr>
              <a:t>(key, value) </a:t>
            </a:r>
            <a:r>
              <a:rPr lang="en-US" sz="1400"/>
              <a:t>tuples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Useful for unpacking into two variables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You can </a:t>
            </a:r>
            <a:r>
              <a:rPr lang="en-US" sz="1400">
                <a:solidFill>
                  <a:schemeClr val="accent4"/>
                </a:solidFill>
              </a:rPr>
              <a:t>pass keys, values, or items </a:t>
            </a:r>
            <a:r>
              <a:rPr lang="en-US" sz="1400"/>
              <a:t>into </a:t>
            </a:r>
            <a:r>
              <a:rPr lang="en-US" sz="1400">
                <a:solidFill>
                  <a:schemeClr val="accent5"/>
                </a:solidFill>
              </a:rPr>
              <a:t>sorted() </a:t>
            </a:r>
            <a:r>
              <a:rPr lang="en-US" sz="1400"/>
              <a:t>to process them in a predictable order, which is helpful for readable output and testing results.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5"/>
                </a:solidFill>
              </a:rPr>
              <a:t>sorted(d.keys())</a:t>
            </a:r>
            <a:r>
              <a:rPr lang="en-US" sz="1400"/>
              <a:t> is a common choice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Iterating Over Keys, Values, and Items</a:t>
            </a:r>
            <a:endParaRPr sz="2520"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By default, iterating over a dict iterates over its keys.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Note that the keys are in a random order.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for key in dict: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  print(key)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prints a g o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Exactly the same as above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for key in dict.keys():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  print(key)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Iterating Over Keys, Values, and Items</a:t>
            </a:r>
            <a:endParaRPr sz="2520"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## Get the .keys() list: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print(dict.keys()) </a:t>
            </a:r>
            <a:r>
              <a:rPr lang="en-US" sz="1400"/>
              <a:t> ## dict_keys(['a', 'o', 'g'])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</a:t>
            </a:r>
            <a:r>
              <a:rPr lang="en-US" sz="1400">
                <a:solidFill>
                  <a:schemeClr val="accent4"/>
                </a:solidFill>
              </a:rPr>
              <a:t> ## Likewise, there's a .values() list of values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print(dict.values())</a:t>
            </a:r>
            <a:r>
              <a:rPr lang="en-US" sz="1400"/>
              <a:t>  ## dict_values(['alpha', 'omega', 'gamma'])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Common case -- loop over the keys in sorted order,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accessing each key/value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for key in sorted(dict.keys()):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  print(key, dict[key])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.items() is the dict expressed as (key, value) tuples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print(dict.items())  ##  dict_items([('a', 'alpha'), ('o', 'omega'), ('g', 'gamma')])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This loop syntax accesses the whole dict by looping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over the .items() tuple list, accessing one (key, value)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pair on each iteration.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for k, v in dict.items(): print(k, '&gt;', v)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a &gt; alpha    o &gt; omega     g &gt; gamma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Iterating Over Keys, Values, and Items</a:t>
            </a:r>
            <a:endParaRPr sz="2520"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</a:t>
            </a:r>
            <a:r>
              <a:rPr lang="en-US" sz="1400">
                <a:solidFill>
                  <a:schemeClr val="accent4"/>
                </a:solidFill>
              </a:rPr>
              <a:t>## .items() is the dict expressed as (key, value) tuples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print(dict.items())  </a:t>
            </a:r>
            <a:r>
              <a:rPr lang="en-US" sz="1400"/>
              <a:t>##  dict_items([('a', 'alpha'), ('o', 'omega'), ('g', 'gamma')])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This loop syntax accesses the whole dict by looping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over the .items() tuple list, accessing one (key, value)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  ## pair on each iteration.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for k, v in dict.items(): print(k, '&gt;', v)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## a &gt; alpha    o &gt; omega     g &gt; gamma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3" title="Screenshot 2026-02-25 at 10.1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00" y="308851"/>
            <a:ext cx="7521799" cy="20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3" title="Screenshot 2026-02-25 at 10.10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424" y="2898125"/>
            <a:ext cx="5968900" cy="13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/>
        </p:nvSpPr>
        <p:spPr>
          <a:xfrm>
            <a:off x="575050" y="1150125"/>
            <a:ext cx="5814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0000FF"/>
                </a:highlight>
              </a:rPr>
              <a:t>scores = {'Alice': 85, 'Bob': 92, 'Charlie': 78}  </a:t>
            </a:r>
            <a:endParaRPr sz="2300">
              <a:solidFill>
                <a:schemeClr val="dk1"/>
              </a:solidFill>
              <a:highlight>
                <a:srgbClr val="0000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4" title="Screenshot 2026-02-25 at 10.12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614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 title="Screenshot 2026-02-25 at 10.12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475" y="2730750"/>
            <a:ext cx="5878076" cy="10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 title="Screenshot 2026-02-25 at 10.13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12" y="152400"/>
            <a:ext cx="7741976" cy="22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5" title="Screenshot 2026-02-25 at 10.13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5950" y="2923425"/>
            <a:ext cx="6812099" cy="16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6" title="Screenshot 2026-02-25 at 10.15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186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6" title="Screenshot 2026-02-25 at 10.15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700" y="2287124"/>
            <a:ext cx="7845050" cy="12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Using Dictionaries as a Practical Data-Organization Strategy</a:t>
            </a:r>
            <a:endParaRPr sz="2520"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280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• From a performance perspective, dictionaries are one of the most powerful everyday tools in Python because they </a:t>
            </a:r>
            <a:r>
              <a:rPr lang="en-US" sz="1500">
                <a:solidFill>
                  <a:schemeClr val="accent4"/>
                </a:solidFill>
              </a:rPr>
              <a:t>can turn repeated searching into fast direct lookups</a:t>
            </a:r>
            <a:r>
              <a:rPr lang="en-US" sz="1500"/>
              <a:t>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  ◦ Often </a:t>
            </a:r>
            <a:r>
              <a:rPr lang="en-US" sz="1500">
                <a:solidFill>
                  <a:schemeClr val="accent4"/>
                </a:solidFill>
              </a:rPr>
              <a:t>faster than scanning lists repeatedly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• A useful pattern is to </a:t>
            </a:r>
            <a:r>
              <a:rPr lang="en-US" sz="1500">
                <a:solidFill>
                  <a:schemeClr val="accent4"/>
                </a:solidFill>
              </a:rPr>
              <a:t>store a list of related records under one key</a:t>
            </a:r>
            <a:r>
              <a:rPr lang="en-US" sz="1500"/>
              <a:t>, such as grouping many log lines under the IP address that appears at the start of each line.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FF"/>
                </a:solidFill>
              </a:rPr>
              <a:t>  ◦ Key: IP address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FF"/>
                </a:solidFill>
              </a:rPr>
              <a:t>  ◦ Value: list of lines for that IP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• After reading and organizing all input into a dict, you can immediately retrieve everything associated with a particular key, which makes analysis and reporting much simpler.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  ◦ Lookups happen after data collection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/>
              <a:t>  ◦ Supports quick investigation of a single key</a:t>
            </a:r>
            <a:endParaRPr sz="1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Dict Formatting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Formatting Strings with Dictionary Data</a:t>
            </a:r>
            <a:endParaRPr sz="2520"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311700" y="1067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Python’s </a:t>
            </a:r>
            <a:r>
              <a:rPr lang="en-US" sz="1400">
                <a:solidFill>
                  <a:schemeClr val="accent5"/>
                </a:solidFill>
              </a:rPr>
              <a:t>% </a:t>
            </a:r>
            <a:r>
              <a:rPr lang="en-US" sz="1400"/>
              <a:t>operator supports named placeholders that pull values from a dictionary, letting you build readable messages where each placeholder refers to a key by name.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Placeholders look like </a:t>
            </a:r>
            <a:r>
              <a:rPr lang="en-US" sz="1400">
                <a:solidFill>
                  <a:schemeClr val="accent5"/>
                </a:solidFill>
              </a:rPr>
              <a:t>%(name)s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5"/>
                </a:solidFill>
              </a:rPr>
              <a:t>%d f</a:t>
            </a:r>
            <a:r>
              <a:rPr lang="en-US" sz="1400"/>
              <a:t>ormats integers, </a:t>
            </a:r>
            <a:r>
              <a:rPr lang="en-US" sz="1400">
                <a:solidFill>
                  <a:schemeClr val="accent5"/>
                </a:solidFill>
              </a:rPr>
              <a:t>%s </a:t>
            </a:r>
            <a:r>
              <a:rPr lang="en-US" sz="1400"/>
              <a:t>formats strings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This </a:t>
            </a:r>
            <a:r>
              <a:rPr lang="en-US" sz="1400">
                <a:solidFill>
                  <a:schemeClr val="accent4"/>
                </a:solidFill>
              </a:rPr>
              <a:t>dict-based formatting</a:t>
            </a:r>
            <a:r>
              <a:rPr lang="en-US" sz="1400"/>
              <a:t> is helpful when you have several values to insert and you want the template text to clearly show which dictionary key supplies each value.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Template becomes self-documenting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Works well for logs and reports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You can also use</a:t>
            </a:r>
            <a:r>
              <a:rPr lang="en-US" sz="1400">
                <a:solidFill>
                  <a:schemeClr val="accent5"/>
                </a:solidFill>
              </a:rPr>
              <a:t> str.format()</a:t>
            </a:r>
            <a:r>
              <a:rPr lang="en-US" sz="1400"/>
              <a:t> with named fields so that formatting rules, such as integer formatting with </a:t>
            </a:r>
            <a:r>
              <a:rPr lang="en-US" sz="1400">
                <a:solidFill>
                  <a:schemeClr val="accent5"/>
                </a:solidFill>
              </a:rPr>
              <a:t>:d</a:t>
            </a:r>
            <a:r>
              <a:rPr lang="en-US" sz="1400"/>
              <a:t>, are embedded in the string template.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Named fields look like </a:t>
            </a:r>
            <a:r>
              <a:rPr lang="en-US" sz="1400">
                <a:solidFill>
                  <a:schemeClr val="accent5"/>
                </a:solidFill>
              </a:rPr>
              <a:t>{count:d}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Alternative to the </a:t>
            </a:r>
            <a:r>
              <a:rPr lang="en-US" sz="1400">
                <a:solidFill>
                  <a:schemeClr val="accent5"/>
                </a:solidFill>
              </a:rPr>
              <a:t>%</a:t>
            </a:r>
            <a:r>
              <a:rPr lang="en-US" sz="1400"/>
              <a:t> operator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Formatting with </a:t>
            </a:r>
            <a:r>
              <a:rPr lang="en-US" sz="2520">
                <a:solidFill>
                  <a:schemeClr val="accent5"/>
                </a:solidFill>
              </a:rPr>
              <a:t>% </a:t>
            </a:r>
            <a:r>
              <a:rPr lang="en-US" sz="2520"/>
              <a:t>and</a:t>
            </a:r>
            <a:r>
              <a:rPr lang="en-US" sz="2520">
                <a:solidFill>
                  <a:schemeClr val="accent5"/>
                </a:solidFill>
              </a:rPr>
              <a:t> str.format()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h = {}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h['word'] = 'garfield'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h['count'] = 42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 = 'I want %(count)d copies of %(word)s' % h </a:t>
            </a:r>
            <a:r>
              <a:rPr lang="en-US"/>
              <a:t> </a:t>
            </a:r>
            <a:r>
              <a:rPr lang="en-US">
                <a:solidFill>
                  <a:schemeClr val="accent4"/>
                </a:solidFill>
              </a:rPr>
              <a:t># %d for int, %s for string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# 'I want 42 copies of garfield'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  # You can also use str.format().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>
                <a:solidFill>
                  <a:schemeClr val="accent5"/>
                </a:solidFill>
              </a:rPr>
              <a:t>s = 'I want {count:d} copies of {word}'.format(h)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1" title="Screenshot 2026-02-25 at 10.20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03449" cy="29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 title="Screenshot 2026-02-25 at 10.21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98500"/>
            <a:ext cx="7698978" cy="16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2" title="Screenshot 2026-02-25 at 10.21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00" y="152400"/>
            <a:ext cx="8690999" cy="30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 title="Screenshot 2026-02-25 at 10.22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100" y="3284976"/>
            <a:ext cx="7437800" cy="16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342175" y="1288375"/>
            <a:ext cx="599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0000FF"/>
                </a:highlight>
              </a:rPr>
              <a:t>user_data = {'name': 'Alex', 'id': 550, 'points': 1250}</a:t>
            </a:r>
            <a:endParaRPr sz="2000">
              <a:solidFill>
                <a:schemeClr val="dk1"/>
              </a:solidFill>
              <a:highlight>
                <a:srgbClr val="0000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Deleting Data with </a:t>
            </a:r>
            <a:r>
              <a:rPr lang="en-US" sz="2520">
                <a:solidFill>
                  <a:schemeClr val="accent5"/>
                </a:solidFill>
              </a:rPr>
              <a:t>del</a:t>
            </a:r>
            <a:r>
              <a:rPr lang="en-US" sz="2520"/>
              <a:t>: Variables, Lists, and Dictionaries</a:t>
            </a:r>
            <a:endParaRPr sz="2520"/>
          </a:p>
        </p:txBody>
      </p:sp>
      <p:sp>
        <p:nvSpPr>
          <p:cNvPr id="242" name="Google Shape;24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• The </a:t>
            </a:r>
            <a:r>
              <a:rPr lang="en-US" sz="1700">
                <a:solidFill>
                  <a:schemeClr val="accent5"/>
                </a:solidFill>
              </a:rPr>
              <a:t>del </a:t>
            </a:r>
            <a:r>
              <a:rPr lang="en-US" sz="1700"/>
              <a:t>operator removes things from your program, and when used on a variable name it deletes that binding so it behaves as if the variable was never defined.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After </a:t>
            </a:r>
            <a:r>
              <a:rPr lang="en-US" sz="1700">
                <a:solidFill>
                  <a:schemeClr val="accent5"/>
                </a:solidFill>
              </a:rPr>
              <a:t>del,</a:t>
            </a:r>
            <a:r>
              <a:rPr lang="en-US" sz="1700"/>
              <a:t> the name no longer exists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When </a:t>
            </a:r>
            <a:r>
              <a:rPr lang="en-US" sz="1700">
                <a:solidFill>
                  <a:schemeClr val="accent5"/>
                </a:solidFill>
              </a:rPr>
              <a:t>del</a:t>
            </a:r>
            <a:r>
              <a:rPr lang="en-US" sz="1700"/>
              <a:t> is applied to a list index or slice,</a:t>
            </a:r>
            <a:r>
              <a:rPr lang="en-US" sz="1700">
                <a:solidFill>
                  <a:srgbClr val="FF00FF"/>
                </a:solidFill>
              </a:rPr>
              <a:t> it removes those elements and shifts the remaining elements</a:t>
            </a:r>
            <a:r>
              <a:rPr lang="en-US" sz="1700"/>
              <a:t>, which permanently changes the list’s contents and length.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</a:t>
            </a:r>
            <a:r>
              <a:rPr lang="en-US" sz="1700">
                <a:solidFill>
                  <a:schemeClr val="accent5"/>
                </a:solidFill>
              </a:rPr>
              <a:t>del list[0] </a:t>
            </a:r>
            <a:r>
              <a:rPr lang="en-US" sz="1700"/>
              <a:t>removes one element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</a:t>
            </a:r>
            <a:r>
              <a:rPr lang="en-US" sz="1700">
                <a:solidFill>
                  <a:schemeClr val="accent5"/>
                </a:solidFill>
              </a:rPr>
              <a:t>del list[-2:]</a:t>
            </a:r>
            <a:r>
              <a:rPr lang="en-US" sz="1700"/>
              <a:t> removes a range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When </a:t>
            </a:r>
            <a:r>
              <a:rPr lang="en-US" sz="1700">
                <a:solidFill>
                  <a:schemeClr val="accent5"/>
                </a:solidFill>
              </a:rPr>
              <a:t>del </a:t>
            </a:r>
            <a:r>
              <a:rPr lang="en-US" sz="1700"/>
              <a:t>is </a:t>
            </a:r>
            <a:r>
              <a:rPr lang="en-US" sz="1700">
                <a:solidFill>
                  <a:schemeClr val="accent4"/>
                </a:solidFill>
              </a:rPr>
              <a:t>used with a dictionary key</a:t>
            </a:r>
            <a:r>
              <a:rPr lang="en-US" sz="1700"/>
              <a:t>, </a:t>
            </a:r>
            <a:r>
              <a:rPr lang="en-US" sz="1700">
                <a:solidFill>
                  <a:schemeClr val="accent4"/>
                </a:solidFill>
              </a:rPr>
              <a:t>it removes the entire key/value entry</a:t>
            </a:r>
            <a:r>
              <a:rPr lang="en-US" sz="1700"/>
              <a:t> so that future lookups for that key will fail unless it is added back later.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/>
              <a:t>  ◦</a:t>
            </a:r>
            <a:r>
              <a:rPr lang="en-US" sz="1700">
                <a:solidFill>
                  <a:schemeClr val="accent5"/>
                </a:solidFill>
              </a:rPr>
              <a:t> del d['b']</a:t>
            </a:r>
            <a:r>
              <a:rPr lang="en-US" sz="1700"/>
              <a:t> removes both key and value</a:t>
            </a:r>
            <a:endParaRPr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Using del on Variables, Lists, and Dict Entries</a:t>
            </a:r>
            <a:endParaRPr sz="2520"/>
          </a:p>
        </p:txBody>
      </p:sp>
      <p:sp>
        <p:nvSpPr>
          <p:cNvPr id="248" name="Google Shape;248;p45"/>
          <p:cNvSpPr txBox="1"/>
          <p:nvPr>
            <p:ph idx="1" type="body"/>
          </p:nvPr>
        </p:nvSpPr>
        <p:spPr>
          <a:xfrm>
            <a:off x="2225800" y="1077648"/>
            <a:ext cx="446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 </a:t>
            </a:r>
            <a:r>
              <a:rPr lang="en-US" sz="1400">
                <a:solidFill>
                  <a:schemeClr val="accent5"/>
                </a:solidFill>
              </a:rPr>
              <a:t> var = 6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del var</a:t>
            </a:r>
            <a:r>
              <a:rPr lang="en-US" sz="1400"/>
              <a:t>  </a:t>
            </a:r>
            <a:r>
              <a:rPr lang="en-US" sz="1400">
                <a:solidFill>
                  <a:schemeClr val="accent4"/>
                </a:solidFill>
              </a:rPr>
              <a:t># var no more!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</a:t>
            </a:r>
            <a:r>
              <a:rPr lang="en-US" sz="1400">
                <a:solidFill>
                  <a:schemeClr val="accent5"/>
                </a:solidFill>
              </a:rPr>
              <a:t> list = ['a', 'b', 'c', 'd']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del list[0]  </a:t>
            </a:r>
            <a:r>
              <a:rPr lang="en-US" sz="1400"/>
              <a:t>   </a:t>
            </a:r>
            <a:r>
              <a:rPr lang="en-US" sz="1400">
                <a:solidFill>
                  <a:schemeClr val="accent4"/>
                </a:solidFill>
              </a:rPr>
              <a:t>## Delete first element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del list[-2:] </a:t>
            </a:r>
            <a:r>
              <a:rPr lang="en-US" sz="1400"/>
              <a:t>  </a:t>
            </a:r>
            <a:r>
              <a:rPr lang="en-US" sz="1400">
                <a:solidFill>
                  <a:schemeClr val="accent4"/>
                </a:solidFill>
              </a:rPr>
              <a:t>## Delete last two elements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print(list)  </a:t>
            </a:r>
            <a:r>
              <a:rPr lang="en-US" sz="1400"/>
              <a:t>   </a:t>
            </a:r>
            <a:r>
              <a:rPr lang="en-US" sz="1400">
                <a:solidFill>
                  <a:schemeClr val="accent4"/>
                </a:solidFill>
              </a:rPr>
              <a:t> ## ['b']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</a:t>
            </a:r>
            <a:r>
              <a:rPr lang="en-US" sz="1400">
                <a:solidFill>
                  <a:schemeClr val="accent5"/>
                </a:solidFill>
              </a:rPr>
              <a:t>dict = {'a':1, 'b':2, 'c':3}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del dict['b']  </a:t>
            </a:r>
            <a:r>
              <a:rPr lang="en-US" sz="1400"/>
              <a:t> </a:t>
            </a:r>
            <a:r>
              <a:rPr lang="en-US" sz="1400">
                <a:solidFill>
                  <a:schemeClr val="accent4"/>
                </a:solidFill>
              </a:rPr>
              <a:t>## Delete 'b' entry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  print(dict)   </a:t>
            </a:r>
            <a:r>
              <a:rPr lang="en-US" sz="1400"/>
              <a:t>  </a:t>
            </a:r>
            <a:r>
              <a:rPr lang="en-US" sz="1400">
                <a:solidFill>
                  <a:schemeClr val="accent4"/>
                </a:solidFill>
              </a:rPr>
              <a:t> ## {'a':1, 'c':3}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6" title="Screenshot 2026-02-25 at 10.29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218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6"/>
          <p:cNvSpPr txBox="1"/>
          <p:nvPr/>
        </p:nvSpPr>
        <p:spPr>
          <a:xfrm>
            <a:off x="267325" y="930325"/>
            <a:ext cx="883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0000FF"/>
                </a:highlight>
              </a:rPr>
              <a:t>guests = {'Alice': 'Confirmed', 'Bob': 'Pending', 'Charlie': 'Confirmed'}</a:t>
            </a:r>
            <a:endParaRPr sz="2000">
              <a:solidFill>
                <a:schemeClr val="dk1"/>
              </a:solidFill>
              <a:highlight>
                <a:srgbClr val="0000FF"/>
              </a:highlight>
            </a:endParaRPr>
          </a:p>
        </p:txBody>
      </p:sp>
      <p:pic>
        <p:nvPicPr>
          <p:cNvPr id="255" name="Google Shape;255;p46" title="Screenshot 2026-02-25 at 10.29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75" y="2791101"/>
            <a:ext cx="7717900" cy="19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7" title="Screenshot 2026-02-25 at 10.30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13" y="152400"/>
            <a:ext cx="7931776" cy="26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7" title="Screenshot 2026-02-25 at 10.30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2050" y="2918275"/>
            <a:ext cx="4305761" cy="19872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7"/>
          <p:cNvSpPr txBox="1"/>
          <p:nvPr/>
        </p:nvSpPr>
        <p:spPr>
          <a:xfrm>
            <a:off x="769925" y="1208350"/>
            <a:ext cx="615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0000FF"/>
                </a:highlight>
              </a:rPr>
              <a:t>scores = [100, 95, 88, 70, 65, 50]</a:t>
            </a:r>
            <a:endParaRPr sz="2000">
              <a:solidFill>
                <a:schemeClr val="dk1"/>
              </a:solidFill>
              <a:highlight>
                <a:srgbClr val="0000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8" title="Screenshot 2026-02-25 at 10.31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21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8" title="Screenshot 2026-02-25 at 10.32.1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175" y="3496050"/>
            <a:ext cx="6420248" cy="15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Working with Files: Opening, Closing, and Reading Lines</a:t>
            </a:r>
            <a:endParaRPr sz="2520"/>
          </a:p>
        </p:txBody>
      </p:sp>
      <p:sp>
        <p:nvSpPr>
          <p:cNvPr id="279" name="Google Shape;27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• The </a:t>
            </a:r>
            <a:r>
              <a:rPr lang="en-US" sz="1400">
                <a:solidFill>
                  <a:schemeClr val="accent5"/>
                </a:solidFill>
              </a:rPr>
              <a:t>open() </a:t>
            </a:r>
            <a:r>
              <a:rPr lang="en-US" sz="1400"/>
              <a:t>function returns a file handle you can use to read or write a file, and you should close it when finished so resources are released promptly.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Common pattern: </a:t>
            </a:r>
            <a:r>
              <a:rPr lang="en-US" sz="1400">
                <a:solidFill>
                  <a:schemeClr val="accent5"/>
                </a:solidFill>
              </a:rPr>
              <a:t>f = open(...); f.close()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The mode argument selects the file operation, using </a:t>
            </a:r>
            <a:r>
              <a:rPr lang="en-US" sz="1400">
                <a:solidFill>
                  <a:schemeClr val="accent5"/>
                </a:solidFill>
              </a:rPr>
              <a:t>'r' </a:t>
            </a:r>
            <a:r>
              <a:rPr lang="en-US" sz="1400"/>
              <a:t>for reading, </a:t>
            </a:r>
            <a:r>
              <a:rPr lang="en-US" sz="1400">
                <a:solidFill>
                  <a:schemeClr val="accent5"/>
                </a:solidFill>
              </a:rPr>
              <a:t>'w' </a:t>
            </a:r>
            <a:r>
              <a:rPr lang="en-US" sz="1400"/>
              <a:t>for writing, and </a:t>
            </a:r>
            <a:r>
              <a:rPr lang="en-US" sz="1400">
                <a:solidFill>
                  <a:schemeClr val="accent5"/>
                </a:solidFill>
              </a:rPr>
              <a:t>'a'</a:t>
            </a:r>
            <a:r>
              <a:rPr lang="en-US" sz="1400"/>
              <a:t> for appending, with text modes often written as </a:t>
            </a:r>
            <a:r>
              <a:rPr lang="en-US" sz="1400">
                <a:solidFill>
                  <a:schemeClr val="accent5"/>
                </a:solidFill>
              </a:rPr>
              <a:t>'rt'</a:t>
            </a:r>
            <a:r>
              <a:rPr lang="en-US" sz="1400"/>
              <a:t> or </a:t>
            </a:r>
            <a:r>
              <a:rPr lang="en-US" sz="1400">
                <a:solidFill>
                  <a:schemeClr val="accent5"/>
                </a:solidFill>
              </a:rPr>
              <a:t>'wt'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4"/>
                </a:solidFill>
              </a:rPr>
              <a:t>r = read, w = write, a = append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chemeClr val="accent4"/>
                </a:solidFill>
              </a:rPr>
              <a:t>t indicates text mode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• For text files, a </a:t>
            </a:r>
            <a:r>
              <a:rPr lang="en-US" sz="1400">
                <a:solidFill>
                  <a:schemeClr val="accent5"/>
                </a:solidFill>
              </a:rPr>
              <a:t>for loop </a:t>
            </a:r>
            <a:r>
              <a:rPr lang="en-US" sz="1400"/>
              <a:t>can iterate line by line, which is simple and efficient because it processes one line at a time rather than loading everything into memory.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  ◦ </a:t>
            </a:r>
            <a:r>
              <a:rPr lang="en-US" sz="1400">
                <a:solidFill>
                  <a:srgbClr val="FF00FF"/>
                </a:solidFill>
              </a:rPr>
              <a:t>Works for text files, not binary files</a:t>
            </a:r>
            <a:endParaRPr sz="14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/>
              <a:t>  ◦ Each line includes its newline character</a:t>
            </a:r>
            <a:endParaRPr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Echoing a Text File Line by Line</a:t>
            </a:r>
            <a:endParaRPr sz="2520"/>
          </a:p>
        </p:txBody>
      </p:sp>
      <p:sp>
        <p:nvSpPr>
          <p:cNvPr id="285" name="Google Shape;28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>
                <a:solidFill>
                  <a:schemeClr val="accent4"/>
                </a:solidFill>
              </a:rPr>
              <a:t># Echo the contents of a text file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 = open('foo.txt', 'rt', encoding='utf-8')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for line in f:  </a:t>
            </a:r>
            <a:r>
              <a:rPr lang="en-US"/>
              <a:t> </a:t>
            </a:r>
            <a:r>
              <a:rPr lang="en-US">
                <a:solidFill>
                  <a:schemeClr val="accent4"/>
                </a:solidFill>
              </a:rPr>
              <a:t>## iterates over the lines of the file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chemeClr val="accent5"/>
                </a:solidFill>
              </a:rPr>
              <a:t>print(line, end='')  </a:t>
            </a:r>
            <a:r>
              <a:rPr lang="en-US"/>
              <a:t>  </a:t>
            </a:r>
            <a:r>
              <a:rPr lang="en-US">
                <a:solidFill>
                  <a:schemeClr val="accent4"/>
                </a:solidFill>
              </a:rPr>
              <a:t>## end='' so print does not add an end-of-line char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                         </a:t>
            </a:r>
            <a:r>
              <a:rPr lang="en-US">
                <a:solidFill>
                  <a:schemeClr val="accent4"/>
                </a:solidFill>
              </a:rPr>
              <a:t>## since 'line' already includes the end-of-line.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f.close()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Reading File Contents: Streaming vs Loading Everything</a:t>
            </a:r>
            <a:endParaRPr sz="2520"/>
          </a:p>
        </p:txBody>
      </p:sp>
      <p:sp>
        <p:nvSpPr>
          <p:cNvPr id="291" name="Google Shape;291;p52"/>
          <p:cNvSpPr txBox="1"/>
          <p:nvPr>
            <p:ph idx="1" type="body"/>
          </p:nvPr>
        </p:nvSpPr>
        <p:spPr>
          <a:xfrm>
            <a:off x="311700" y="1173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</a:t>
            </a:r>
            <a:r>
              <a:rPr lang="en-US" sz="1600">
                <a:solidFill>
                  <a:schemeClr val="accent4"/>
                </a:solidFill>
              </a:rPr>
              <a:t>Reading one line at a time is memory-friendly </a:t>
            </a:r>
            <a:r>
              <a:rPr lang="en-US" sz="1600"/>
              <a:t>because you can process extremely large files, such as multi-gigabyte logs, without needing enough RAM to hold them fully.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Streaming processing scales to large files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The method </a:t>
            </a:r>
            <a:r>
              <a:rPr lang="en-US" sz="1600">
                <a:solidFill>
                  <a:schemeClr val="accent5"/>
                </a:solidFill>
              </a:rPr>
              <a:t>f.readlines() </a:t>
            </a:r>
            <a:r>
              <a:rPr lang="en-US" sz="1600">
                <a:solidFill>
                  <a:srgbClr val="FF00FF"/>
                </a:solidFill>
              </a:rPr>
              <a:t>reads the entire file into memory as a list of lines</a:t>
            </a:r>
            <a:r>
              <a:rPr lang="en-US" sz="1600"/>
              <a:t>, which can be convenient but may be inappropriate for large files.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Returns a list, one string per line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The method </a:t>
            </a:r>
            <a:r>
              <a:rPr lang="en-US" sz="1600">
                <a:solidFill>
                  <a:schemeClr val="accent5"/>
                </a:solidFill>
              </a:rPr>
              <a:t>f.read() </a:t>
            </a:r>
            <a:r>
              <a:rPr lang="en-US" sz="1600">
                <a:solidFill>
                  <a:srgbClr val="FF00FF"/>
                </a:solidFill>
              </a:rPr>
              <a:t>reads the entire file into a single string,</a:t>
            </a:r>
            <a:r>
              <a:rPr lang="en-US" sz="1600"/>
              <a:t> which is useful when you want to analyze the text as a whole, such as with later pattern-matching tools.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Returns one big string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Convenient for whole-text operations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Writing File Contents</a:t>
            </a:r>
            <a:endParaRPr sz="2520"/>
          </a:p>
        </p:txBody>
      </p:sp>
      <p:sp>
        <p:nvSpPr>
          <p:cNvPr id="297" name="Google Shape;29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To write output, you can call </a:t>
            </a:r>
            <a:r>
              <a:rPr lang="en-US" sz="1600">
                <a:solidFill>
                  <a:schemeClr val="accent5"/>
                </a:solidFill>
              </a:rPr>
              <a:t>f.write(string)</a:t>
            </a:r>
            <a:r>
              <a:rPr lang="en-US" sz="1600"/>
              <a:t> directly, or you can use </a:t>
            </a:r>
            <a:r>
              <a:rPr lang="en-US" sz="1600">
                <a:solidFill>
                  <a:schemeClr val="accent5"/>
                </a:solidFill>
              </a:rPr>
              <a:t>print(string, file=f) </a:t>
            </a:r>
            <a:r>
              <a:rPr lang="en-US" sz="1600"/>
              <a:t>to send formatted text to the file with print’s normal conveniences.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f.write </a:t>
            </a:r>
            <a:r>
              <a:rPr lang="en-US" sz="1600"/>
              <a:t>does not add a newline automatically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print </a:t>
            </a:r>
            <a:r>
              <a:rPr lang="en-US" sz="1600"/>
              <a:t>typically adds a newline unless configured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 Unicode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Unicode Text Files: Encodings and Context Managers</a:t>
            </a:r>
            <a:endParaRPr sz="2520"/>
          </a:p>
        </p:txBody>
      </p:sp>
      <p:sp>
        <p:nvSpPr>
          <p:cNvPr id="308" name="Google Shape;30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When reading or writing Unicode text, open the file in text mode and specify an explicit encoding like utf-8 so Python decodes bytes into correct characters reliably.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Use mode containing 't'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encoding='utf-8' is a common choice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Using with open(...) as f automatically closes the file even if an error occurs, which reduces bugs caused by forgetting to call close() in every execution path.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Also called a context manager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Safer than manual close in many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When you read lines in text mode with an encoding, each line you get is a Unicode string in Python, which means it can represent characters beyond plain ASCII.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Supports symbols like € and non-Latin scripts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Reading and Writing UTF-8 Unicode Text</a:t>
            </a:r>
            <a:endParaRPr sz="2520"/>
          </a:p>
        </p:txBody>
      </p:sp>
      <p:sp>
        <p:nvSpPr>
          <p:cNvPr id="314" name="Google Shape;31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with open('foo.txt', 'rt', encoding='utf-8') as 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for line in 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  # here line is a *unicode* string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with open('write_test', encoding='utf-8', mode='wt') as 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  f.write('\\u20ACunicode\\u20AC\\n') #  €unicode€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  # AKA print('\\u20ACunicode\\u20AC', file=f)  ## which auto-adds end='\\n'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Incremental Development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Incremental Development: Building Programs in Small Working Steps</a:t>
            </a:r>
            <a:endParaRPr sz="2520"/>
          </a:p>
        </p:txBody>
      </p:sp>
      <p:sp>
        <p:nvSpPr>
          <p:cNvPr id="325" name="Google Shape;32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Instead of writing an entire program at once, start by defining a first milestone that produces a small but meaningful result, such as extracting a list of words.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Pick one concrete intermediate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Make it run successfully before adding more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After reaching a milestone, print the data structures you have built so far, because seeing real intermediate values helps you decide what transformations are needed next.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Print lists, dicts, and tuples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Use real sample inputs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If later parts of the program are not ready, you can stop early using sys.exit(0), which prevents unfinished code from running and lets you focus on one piece at a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Exit deliberately after debugging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Remove or move the exit for the next milestone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Python encourages this step-by-step approach because it is fast to make a small change and re-run, so you can steadily improve correctness without feeling overwhelmed.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Short edit-run cycles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Lower risk of complex bugs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Practice Integration: The wordcount.py Exercise</a:t>
            </a:r>
            <a:endParaRPr sz="2520"/>
          </a:p>
        </p:txBody>
      </p:sp>
      <p:sp>
        <p:nvSpPr>
          <p:cNvPr id="331" name="Google Shape;33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word-count program is a useful practice project because it combines strings, lists, dictionaries, tuples, and file processing into a single workflow that mirrors real tasks.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Reads text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Transforms and aggregates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A typical approach is to read the file line by line, split each line into words, and update a dictionary that maps each word to the number of times it appears.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Key: a word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Value: count integer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When printing results, you can iterate over dict.items() to access words and counts together, and use sorted() to produce stable output that is easier to read and verify.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Loop: for word, count in d.items()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Sort by word or by count, depending on your goal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