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6858000" cy="9144000"/>
  <p:embeddedFontLst>
    <p:embeddedFont>
      <p:font typeface="Poppins"/>
      <p:regular r:id="rId37"/>
      <p:bold r:id="rId38"/>
      <p:italic r:id="rId39"/>
      <p:boldItalic r:id="rId40"/>
    </p:embeddedFont>
    <p:embeddedFont>
      <p:font typeface="Helvetica Neue"/>
      <p:regular r:id="rId41"/>
      <p:bold r:id="rId42"/>
      <p:italic r:id="rId43"/>
      <p:boldItalic r:id="rId44"/>
    </p:embeddedFont>
    <p:embeddedFont>
      <p:font typeface="Roboto Mono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8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8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-boldItalic.fntdata"/><Relationship Id="rId20" Type="http://schemas.openxmlformats.org/officeDocument/2006/relationships/slide" Target="slides/slide15.xml"/><Relationship Id="rId42" Type="http://schemas.openxmlformats.org/officeDocument/2006/relationships/font" Target="fonts/HelveticaNeue-bold.fntdata"/><Relationship Id="rId41" Type="http://schemas.openxmlformats.org/officeDocument/2006/relationships/font" Target="fonts/HelveticaNeue-regular.fntdata"/><Relationship Id="rId22" Type="http://schemas.openxmlformats.org/officeDocument/2006/relationships/slide" Target="slides/slide17.xml"/><Relationship Id="rId44" Type="http://schemas.openxmlformats.org/officeDocument/2006/relationships/font" Target="fonts/HelveticaNeue-boldItalic.fntdata"/><Relationship Id="rId21" Type="http://schemas.openxmlformats.org/officeDocument/2006/relationships/slide" Target="slides/slide16.xml"/><Relationship Id="rId43" Type="http://schemas.openxmlformats.org/officeDocument/2006/relationships/font" Target="fonts/HelveticaNeue-italic.fntdata"/><Relationship Id="rId24" Type="http://schemas.openxmlformats.org/officeDocument/2006/relationships/slide" Target="slides/slide19.xml"/><Relationship Id="rId46" Type="http://schemas.openxmlformats.org/officeDocument/2006/relationships/font" Target="fonts/RobotoMono-bold.fntdata"/><Relationship Id="rId23" Type="http://schemas.openxmlformats.org/officeDocument/2006/relationships/slide" Target="slides/slide18.xml"/><Relationship Id="rId45" Type="http://schemas.openxmlformats.org/officeDocument/2006/relationships/font" Target="fonts/RobotoMon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48" Type="http://schemas.openxmlformats.org/officeDocument/2006/relationships/font" Target="fonts/RobotoMono-boldItalic.fntdata"/><Relationship Id="rId25" Type="http://schemas.openxmlformats.org/officeDocument/2006/relationships/slide" Target="slides/slide20.xml"/><Relationship Id="rId47" Type="http://schemas.openxmlformats.org/officeDocument/2006/relationships/font" Target="fonts/RobotoMono-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Poppins-regular.fnt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Poppins-italic.fntdata"/><Relationship Id="rId16" Type="http://schemas.openxmlformats.org/officeDocument/2006/relationships/slide" Target="slides/slide11.xml"/><Relationship Id="rId38" Type="http://schemas.openxmlformats.org/officeDocument/2006/relationships/font" Target="fonts/Poppins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slide_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slide_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slide_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slide_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8aa8dbd5b_0_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98aa8dbd5b_0_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slide_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slide_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8aa8dbd5b_0_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8aa8dbd5b_0_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slide_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slide_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slide_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slide_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0da56be3a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0da56be3a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8aa8dbd5b_0_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98aa8dbd5b_0_5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98aa8dbd5b_0_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98aa8dbd5b_0_6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0da56be3a_0_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0da56be3a_0_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8aa8dbd5b_0_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98aa8dbd5b_0_4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0da56be3a_0_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0da56be3a_0_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2fcba51eb_0_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2fcba51eb_0_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98aa8dbd5b_0_7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98aa8dbd5b_0_7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98aa8dbd5b_0_8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98aa8dbd5b_0_8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slide_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slide_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98aa8dbd5b_0_7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98aa8dbd5b_0_7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98aa8dbd5b_0_10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98aa8dbd5b_0_10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98aa8dbd5b_0_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98aa8dbd5b_0_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98aa8dbd5b_0_1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98aa8dbd5b_0_1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98aa8dbd5b_0_1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98aa8dbd5b_0_14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98aa8dbd5b_0_1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98aa8dbd5b_0_14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slide_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slide_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98aa8dbd5b_0_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98aa8dbd5b_0_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slide_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slide_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98aa8dbd5b_0_1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98aa8dbd5b_0_16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99f4437ff9_0_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99f4437ff9_0_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a6b46f81b5_0_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a6b46f81b5_0_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98aa8dbd5b_0_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98aa8dbd5b_0_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a08be09029_0_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a08be09029_0_6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7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"/>
              <a:buNone/>
              <a:defRPr sz="4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3" name="Google Shape;53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Poppins"/>
              <a:buNone/>
              <a:defRPr sz="12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5877" y="4306150"/>
            <a:ext cx="952271" cy="2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/>
          <p:nvPr/>
        </p:nvSpPr>
        <p:spPr>
          <a:xfrm>
            <a:off x="-11200" y="0"/>
            <a:ext cx="9144000" cy="5143500"/>
          </a:xfrm>
          <a:prstGeom prst="rect">
            <a:avLst/>
          </a:prstGeom>
          <a:solidFill>
            <a:srgbClr val="49A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BD80"/>
              </a:solidFill>
            </a:endParaRPr>
          </a:p>
        </p:txBody>
      </p:sp>
      <p:sp>
        <p:nvSpPr>
          <p:cNvPr id="58" name="Google Shape;58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oppins"/>
              <a:buNone/>
              <a:defRPr sz="47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0" name="Google Shape;60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95877" y="4306150"/>
            <a:ext cx="952271" cy="28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4.png"/><Relationship Id="rId4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png"/><Relationship Id="rId4" Type="http://schemas.openxmlformats.org/officeDocument/2006/relationships/image" Target="../media/image22.png"/><Relationship Id="rId5" Type="http://schemas.openxmlformats.org/officeDocument/2006/relationships/image" Target="../media/image1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hyperlink" Target="mailto:testuser@example.com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zed.dev/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Understanding Python Strings - Part 1</a:t>
            </a:r>
            <a:endParaRPr/>
          </a:p>
        </p:txBody>
      </p:sp>
      <p:sp>
        <p:nvSpPr>
          <p:cNvPr id="66" name="Google Shape;66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Session</a:t>
            </a:r>
            <a:r>
              <a:rPr lang="en-US" sz="2400"/>
              <a:t> 3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November 2025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AI Foundations - Learning Python</a:t>
            </a:r>
            <a:endParaRPr sz="2400"/>
          </a:p>
        </p:txBody>
      </p:sp>
      <p:pic>
        <p:nvPicPr>
          <p:cNvPr descr="Beautify this slide"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96247" y="-26800"/>
            <a:ext cx="9240247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Python String Basics</a:t>
            </a:r>
            <a:endParaRPr sz="2520"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• Python built-in string class: </a:t>
            </a:r>
            <a:r>
              <a:rPr lang="en-US" sz="1600">
                <a:solidFill>
                  <a:schemeClr val="accent5"/>
                </a:solidFill>
              </a:rPr>
              <a:t>str</a:t>
            </a:r>
            <a:endParaRPr sz="16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/>
              <a:t>• Python strings are defined using single or double quotes and support escaping special characters with a backslash. Commonly single quotes.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/>
              <a:t>  ◦ Example: </a:t>
            </a:r>
            <a:r>
              <a:rPr lang="en-US" sz="1600">
                <a:solidFill>
                  <a:schemeClr val="accent5"/>
                </a:solidFill>
              </a:rPr>
              <a:t>'\n' </a:t>
            </a:r>
            <a:r>
              <a:rPr lang="en-US" sz="1600"/>
              <a:t>for newline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/>
              <a:t>  ◦ </a:t>
            </a:r>
            <a:r>
              <a:rPr lang="en-US" sz="1600">
                <a:solidFill>
                  <a:schemeClr val="accent5"/>
                </a:solidFill>
              </a:rPr>
              <a:t>“I didn't do it”</a:t>
            </a:r>
            <a:r>
              <a:rPr lang="en-US" sz="1600"/>
              <a:t> → example of a single quote inside a double-quoted string; vice versa okay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/>
              <a:t>• Python strings are immutable; this means they cannot be changed after their creation.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/>
              <a:t>  ◦ Operations like concatenation create new strings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/>
              <a:t>  ◦ Example: </a:t>
            </a:r>
            <a:r>
              <a:rPr lang="en-US" sz="1600">
                <a:solidFill>
                  <a:schemeClr val="accent5"/>
                </a:solidFill>
              </a:rPr>
              <a:t>'hello' + ' world'</a:t>
            </a:r>
            <a:r>
              <a:rPr lang="en-US" sz="1600"/>
              <a:t> results in </a:t>
            </a:r>
            <a:r>
              <a:rPr lang="en-US" sz="1600">
                <a:solidFill>
                  <a:schemeClr val="accent5"/>
                </a:solidFill>
              </a:rPr>
              <a:t>'hello world'</a:t>
            </a:r>
            <a:endParaRPr sz="16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String </a:t>
            </a:r>
            <a:r>
              <a:rPr lang="en-US" sz="2520"/>
              <a:t>spanning multiple lines</a:t>
            </a:r>
            <a:endParaRPr sz="2520"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• String literals can span multiple lines when enclosed in triple quotes in Python.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Triple quotes can be either single ‘’’ or double “””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  ◦ Allow for more readable multiline strings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Accessing Characters in Strings</a:t>
            </a:r>
            <a:endParaRPr sz="2520"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Individual characters in a string can be accessed using zero-based indexing with square brackets.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Example: </a:t>
            </a:r>
            <a:r>
              <a:rPr lang="en-US">
                <a:solidFill>
                  <a:schemeClr val="accent5"/>
                </a:solidFill>
              </a:rPr>
              <a:t>'hello'[1] </a:t>
            </a:r>
            <a:r>
              <a:rPr lang="en-US"/>
              <a:t>returns 'e'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Indexing is similar to languages like Java and C++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• Python raises an error when an index is out of the bounds of the string length.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Prevents accessing non-existent characters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Python stops execution with an error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len() function</a:t>
            </a:r>
            <a:endParaRPr sz="2520"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• The </a:t>
            </a:r>
            <a:r>
              <a:rPr lang="en-US">
                <a:solidFill>
                  <a:schemeClr val="accent5"/>
                </a:solidFill>
              </a:rPr>
              <a:t>len() </a:t>
            </a:r>
            <a:r>
              <a:rPr lang="en-US"/>
              <a:t>function returns the number of characters, which is applicable to any sequence type.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Example: </a:t>
            </a:r>
            <a:r>
              <a:rPr lang="en-US">
                <a:solidFill>
                  <a:schemeClr val="accent5"/>
                </a:solidFill>
              </a:rPr>
              <a:t>len('hello') </a:t>
            </a:r>
            <a:r>
              <a:rPr lang="en-US"/>
              <a:t>returns 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  ◦ Works on lists, strings, and other sequence types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String Concatenation and Conversion</a:t>
            </a:r>
            <a:endParaRPr sz="2520"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The '+' operator is used to concatenate strings, but it does not convert other types implicitly.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Example: </a:t>
            </a:r>
            <a:r>
              <a:rPr lang="en-US">
                <a:solidFill>
                  <a:schemeClr val="accent5"/>
                </a:solidFill>
              </a:rPr>
              <a:t>'hello' + ' world'</a:t>
            </a:r>
            <a:r>
              <a:rPr lang="en-US"/>
              <a:t> results in </a:t>
            </a:r>
            <a:r>
              <a:rPr lang="en-US">
                <a:solidFill>
                  <a:schemeClr val="accent5"/>
                </a:solidFill>
              </a:rPr>
              <a:t>'hello world'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Intended for combining string objects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• To concatenate numbers or non-string types, use the </a:t>
            </a:r>
            <a:r>
              <a:rPr lang="en-US">
                <a:solidFill>
                  <a:schemeClr val="accent5"/>
                </a:solidFill>
              </a:rPr>
              <a:t>str() </a:t>
            </a:r>
            <a:r>
              <a:rPr lang="en-US"/>
              <a:t>function to convert them to string.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Example: </a:t>
            </a:r>
            <a:r>
              <a:rPr lang="en-US">
                <a:solidFill>
                  <a:schemeClr val="accent5"/>
                </a:solidFill>
              </a:rPr>
              <a:t>str(3.14)</a:t>
            </a:r>
            <a:r>
              <a:rPr lang="en-US"/>
              <a:t> converts a float to '3.14'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  ◦ Crucial for ensuring consistent string data type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Code Example: Indexing, Length, Concatenation</a:t>
            </a:r>
            <a:endParaRPr sz="2520"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s = 'hi'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print(s[1])  </a:t>
            </a:r>
            <a:r>
              <a:rPr lang="en-US"/>
              <a:t>        ## i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print(len(s))   </a:t>
            </a:r>
            <a:r>
              <a:rPr lang="en-US"/>
              <a:t>     ## 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print(s + ' there')</a:t>
            </a:r>
            <a:r>
              <a:rPr lang="en-US"/>
              <a:t>  ## hi there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  </a:t>
            </a:r>
            <a:endParaRPr/>
          </a:p>
        </p:txBody>
      </p:sp>
      <p:sp>
        <p:nvSpPr>
          <p:cNvPr id="104" name="Google Shape;104;p21"/>
          <p:cNvSpPr txBox="1"/>
          <p:nvPr/>
        </p:nvSpPr>
        <p:spPr>
          <a:xfrm>
            <a:off x="2112050" y="3402550"/>
            <a:ext cx="5719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4"/>
                </a:solidFill>
              </a:rPr>
              <a:t>Open up terminal. </a:t>
            </a:r>
            <a:endParaRPr sz="18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4"/>
                </a:solidFill>
              </a:rPr>
              <a:t>Run nano ./string1.py</a:t>
            </a:r>
            <a:endParaRPr sz="18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4"/>
                </a:solidFill>
              </a:rPr>
              <a:t>Solve problem A. donuts </a:t>
            </a:r>
            <a:endParaRPr sz="180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Chapter Two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Code Example Refresher: </a:t>
            </a:r>
            <a:r>
              <a:rPr lang="en-US">
                <a:solidFill>
                  <a:schemeClr val="accent5"/>
                </a:solidFill>
              </a:rPr>
              <a:t>[], len(), +, str()</a:t>
            </a:r>
            <a:endParaRPr>
              <a:solidFill>
                <a:schemeClr val="accent5"/>
              </a:solidFill>
            </a:endParaRPr>
          </a:p>
        </p:txBody>
      </p:sp>
      <p:pic>
        <p:nvPicPr>
          <p:cNvPr id="115" name="Google Shape;115;p23" title="Screenshot 2025-11-08 at 9.19.07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075" y="3047963"/>
            <a:ext cx="7583174" cy="154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3" title="Screenshot 2025-11-08 at 9.19.48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075" y="1288684"/>
            <a:ext cx="7583174" cy="16013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Code Example Refresher: </a:t>
            </a:r>
            <a:r>
              <a:rPr lang="en-US">
                <a:solidFill>
                  <a:schemeClr val="accent5"/>
                </a:solidFill>
              </a:rPr>
              <a:t>r’</a:t>
            </a:r>
            <a:r>
              <a:rPr lang="en-US"/>
              <a:t> and </a:t>
            </a:r>
            <a:r>
              <a:rPr lang="en-US">
                <a:solidFill>
                  <a:schemeClr val="accent5"/>
                </a:solidFill>
              </a:rPr>
              <a:t>“””</a:t>
            </a:r>
            <a:r>
              <a:rPr lang="en-US"/>
              <a:t> </a:t>
            </a:r>
            <a:endParaRPr/>
          </a:p>
        </p:txBody>
      </p:sp>
      <p:pic>
        <p:nvPicPr>
          <p:cNvPr id="122" name="Google Shape;122;p24" title="Screenshot 2025-11-08 at 9.22.3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600" y="1253188"/>
            <a:ext cx="6101125" cy="321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Nano commands: Try these!</a:t>
            </a:r>
            <a:endParaRPr/>
          </a:p>
        </p:txBody>
      </p:sp>
      <p:sp>
        <p:nvSpPr>
          <p:cNvPr id="128" name="Google Shape;128;p2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accent5"/>
                </a:solidFill>
              </a:rPr>
              <a:t>FILE</a:t>
            </a:r>
            <a:endParaRPr b="1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4"/>
                </a:solidFill>
              </a:rPr>
              <a:t>Ctrl O  : Save a file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4"/>
                </a:solidFill>
              </a:rPr>
              <a:t>Ctrl X  : Exit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accent5"/>
                </a:solidFill>
              </a:rPr>
              <a:t>NAVIGATION</a:t>
            </a:r>
            <a:endParaRPr b="1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4"/>
                </a:solidFill>
              </a:rPr>
              <a:t>Ctrl W : Find a word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4"/>
                </a:solidFill>
              </a:rPr>
              <a:t>Ctrl Y  : Prev Page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4"/>
                </a:solidFill>
              </a:rPr>
              <a:t>Ctrl V  : Next Page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>
                <a:solidFill>
                  <a:schemeClr val="accent4"/>
                </a:solidFill>
              </a:rPr>
              <a:t>Ctrl C : Current Cursor Position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129" name="Google Shape;129;p2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accent5"/>
                </a:solidFill>
              </a:rPr>
              <a:t>EDITING</a:t>
            </a:r>
            <a:endParaRPr b="1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4"/>
                </a:solidFill>
              </a:rPr>
              <a:t>Ctrl J  : Justify (Hard Word Wrap)  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4"/>
                </a:solidFill>
              </a:rPr>
              <a:t>Ctrl U : Unjustify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4"/>
                </a:solidFill>
              </a:rPr>
              <a:t>Ctrl - Shift - 6  (Ctrl ^) : Mark text selection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4"/>
                </a:solidFill>
              </a:rPr>
              <a:t>Ctrl K : Cut Text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4"/>
                </a:solidFill>
              </a:rPr>
              <a:t>Ctrl U : Paste Text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Donuts Problem</a:t>
            </a:r>
            <a:endParaRPr/>
          </a:p>
        </p:txBody>
      </p:sp>
      <p:pic>
        <p:nvPicPr>
          <p:cNvPr id="135" name="Google Shape;135;p26" title="Screenshot 2025-11-06 at 5.44.4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338" y="1017725"/>
            <a:ext cx="8435321" cy="391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Main function</a:t>
            </a:r>
            <a:endParaRPr/>
          </a:p>
        </p:txBody>
      </p:sp>
      <p:pic>
        <p:nvPicPr>
          <p:cNvPr id="141" name="Google Shape;141;p27" title="Screenshot 2025-11-07 at 2.54.5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20967"/>
            <a:ext cx="8520600" cy="28172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7" title="Screenshot 2025-11-07 at 2.56.23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3984225"/>
            <a:ext cx="4885275" cy="93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Chapter Three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Base 10 (Decimal) versus Base 2 (Binary) </a:t>
            </a:r>
            <a:endParaRPr/>
          </a:p>
        </p:txBody>
      </p:sp>
      <p:sp>
        <p:nvSpPr>
          <p:cNvPr id="153" name="Google Shape;153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Base 10 is 10 digits </a:t>
            </a:r>
            <a:r>
              <a:rPr lang="en-US">
                <a:solidFill>
                  <a:schemeClr val="accent5"/>
                </a:solidFill>
              </a:rPr>
              <a:t>(0 to 9)</a:t>
            </a:r>
            <a:r>
              <a:rPr lang="en-US"/>
              <a:t>, matches human fingers.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Base 2 has only 2 digits </a:t>
            </a:r>
            <a:r>
              <a:rPr lang="en-US">
                <a:solidFill>
                  <a:schemeClr val="accent4"/>
                </a:solidFill>
              </a:rPr>
              <a:t>(0 or 1)</a:t>
            </a:r>
            <a:r>
              <a:rPr lang="en-US"/>
              <a:t>, matches computers on/off voltage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_3_		</a:t>
            </a:r>
            <a:r>
              <a:rPr lang="en-US"/>
              <a:t>_4_		_5_			= (3 * </a:t>
            </a:r>
            <a:r>
              <a:rPr lang="en-US">
                <a:solidFill>
                  <a:schemeClr val="accent5"/>
                </a:solidFill>
              </a:rPr>
              <a:t>100</a:t>
            </a:r>
            <a:r>
              <a:rPr lang="en-US"/>
              <a:t>) + (4 * </a:t>
            </a:r>
            <a:r>
              <a:rPr lang="en-US">
                <a:solidFill>
                  <a:schemeClr val="accent5"/>
                </a:solidFill>
              </a:rPr>
              <a:t>10</a:t>
            </a:r>
            <a:r>
              <a:rPr lang="en-US"/>
              <a:t>) + (5 * </a:t>
            </a:r>
            <a:r>
              <a:rPr lang="en-US">
                <a:solidFill>
                  <a:schemeClr val="accent5"/>
                </a:solidFill>
              </a:rPr>
              <a:t>1</a:t>
            </a:r>
            <a:r>
              <a:rPr lang="en-US"/>
              <a:t>) = 345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10</a:t>
            </a:r>
            <a:r>
              <a:rPr baseline="30000" lang="en-US">
                <a:solidFill>
                  <a:schemeClr val="accent5"/>
                </a:solidFill>
              </a:rPr>
              <a:t>2</a:t>
            </a:r>
            <a:r>
              <a:rPr baseline="30000" lang="en-US"/>
              <a:t>		</a:t>
            </a:r>
            <a:r>
              <a:rPr lang="en-US">
                <a:solidFill>
                  <a:schemeClr val="accent5"/>
                </a:solidFill>
              </a:rPr>
              <a:t>10</a:t>
            </a:r>
            <a:r>
              <a:rPr baseline="30000" lang="en-US">
                <a:solidFill>
                  <a:schemeClr val="accent5"/>
                </a:solidFill>
              </a:rPr>
              <a:t>1	</a:t>
            </a:r>
            <a:r>
              <a:rPr baseline="30000" lang="en-US"/>
              <a:t>	</a:t>
            </a:r>
            <a:r>
              <a:rPr lang="en-US">
                <a:solidFill>
                  <a:schemeClr val="accent5"/>
                </a:solidFill>
              </a:rPr>
              <a:t>10</a:t>
            </a:r>
            <a:r>
              <a:rPr baseline="30000" lang="en-US">
                <a:solidFill>
                  <a:schemeClr val="accent5"/>
                </a:solidFill>
              </a:rPr>
              <a:t>0</a:t>
            </a:r>
            <a:endParaRPr baseline="30000">
              <a:solidFill>
                <a:schemeClr val="accent5"/>
              </a:solidFill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_1_		_0_		_1_			= (1 * </a:t>
            </a:r>
            <a:r>
              <a:rPr lang="en-US">
                <a:solidFill>
                  <a:schemeClr val="accent4"/>
                </a:solidFill>
              </a:rPr>
              <a:t>4</a:t>
            </a:r>
            <a:r>
              <a:rPr lang="en-US"/>
              <a:t>) + (0 * </a:t>
            </a:r>
            <a:r>
              <a:rPr lang="en-US">
                <a:solidFill>
                  <a:schemeClr val="accent4"/>
                </a:solidFill>
              </a:rPr>
              <a:t>2</a:t>
            </a:r>
            <a:r>
              <a:rPr lang="en-US"/>
              <a:t>) + (1 * </a:t>
            </a:r>
            <a:r>
              <a:rPr lang="en-US">
                <a:solidFill>
                  <a:schemeClr val="accent4"/>
                </a:solidFill>
              </a:rPr>
              <a:t>1</a:t>
            </a:r>
            <a:r>
              <a:rPr lang="en-US"/>
              <a:t>) = 5</a:t>
            </a:r>
            <a:endParaRPr baseline="30000"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 </a:t>
            </a:r>
            <a:r>
              <a:rPr lang="en-US">
                <a:solidFill>
                  <a:schemeClr val="accent4"/>
                </a:solidFill>
              </a:rPr>
              <a:t>2</a:t>
            </a:r>
            <a:r>
              <a:rPr baseline="30000" lang="en-US">
                <a:solidFill>
                  <a:schemeClr val="accent4"/>
                </a:solidFill>
              </a:rPr>
              <a:t>2</a:t>
            </a:r>
            <a:r>
              <a:rPr baseline="30000" lang="en-US"/>
              <a:t>		 </a:t>
            </a:r>
            <a:r>
              <a:rPr lang="en-US">
                <a:solidFill>
                  <a:schemeClr val="accent4"/>
                </a:solidFill>
              </a:rPr>
              <a:t>2</a:t>
            </a:r>
            <a:r>
              <a:rPr baseline="30000" lang="en-US">
                <a:solidFill>
                  <a:schemeClr val="accent4"/>
                </a:solidFill>
              </a:rPr>
              <a:t>1</a:t>
            </a:r>
            <a:r>
              <a:rPr baseline="30000" lang="en-US"/>
              <a:t>		 </a:t>
            </a:r>
            <a:r>
              <a:rPr lang="en-US">
                <a:solidFill>
                  <a:schemeClr val="accent4"/>
                </a:solidFill>
              </a:rPr>
              <a:t>2</a:t>
            </a:r>
            <a:r>
              <a:rPr baseline="30000" lang="en-US">
                <a:solidFill>
                  <a:schemeClr val="accent4"/>
                </a:solidFill>
              </a:rPr>
              <a:t>0</a:t>
            </a:r>
            <a:endParaRPr baseline="30000">
              <a:solidFill>
                <a:schemeClr val="accent4"/>
              </a:solidFill>
            </a:endParaRPr>
          </a:p>
        </p:txBody>
      </p:sp>
      <p:sp>
        <p:nvSpPr>
          <p:cNvPr id="154" name="Google Shape;154;p29"/>
          <p:cNvSpPr txBox="1"/>
          <p:nvPr/>
        </p:nvSpPr>
        <p:spPr>
          <a:xfrm>
            <a:off x="1743750" y="3782450"/>
            <a:ext cx="29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>
                <a:solidFill>
                  <a:schemeClr val="accent4"/>
                </a:solidFill>
              </a:rPr>
              <a:t>2</a:t>
            </a:r>
            <a:endParaRPr/>
          </a:p>
        </p:txBody>
      </p:sp>
      <p:sp>
        <p:nvSpPr>
          <p:cNvPr id="155" name="Google Shape;155;p29"/>
          <p:cNvSpPr txBox="1"/>
          <p:nvPr/>
        </p:nvSpPr>
        <p:spPr>
          <a:xfrm>
            <a:off x="865250" y="3782450"/>
            <a:ext cx="29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>
                <a:solidFill>
                  <a:schemeClr val="accent4"/>
                </a:solidFill>
              </a:rPr>
              <a:t>4</a:t>
            </a:r>
            <a:endParaRPr/>
          </a:p>
        </p:txBody>
      </p:sp>
      <p:sp>
        <p:nvSpPr>
          <p:cNvPr id="156" name="Google Shape;156;p29"/>
          <p:cNvSpPr txBox="1"/>
          <p:nvPr/>
        </p:nvSpPr>
        <p:spPr>
          <a:xfrm>
            <a:off x="2695616" y="3780185"/>
            <a:ext cx="29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800">
                <a:solidFill>
                  <a:schemeClr val="accent4"/>
                </a:solidFill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0"/>
          <p:cNvSpPr txBox="1"/>
          <p:nvPr/>
        </p:nvSpPr>
        <p:spPr>
          <a:xfrm>
            <a:off x="2645200" y="1877225"/>
            <a:ext cx="183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2"/>
                </a:solidFill>
              </a:rPr>
              <a:t>111    101  100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162" name="Google Shape;16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Setting permissions with chmod</a:t>
            </a:r>
            <a:endParaRPr/>
          </a:p>
        </p:txBody>
      </p:sp>
      <p:pic>
        <p:nvPicPr>
          <p:cNvPr id="163" name="Google Shape;163;p30" title="Screenshot 2025-10-28 at 23.23.18.png"/>
          <p:cNvPicPr preferRelativeResize="0"/>
          <p:nvPr/>
        </p:nvPicPr>
        <p:blipFill rotWithShape="1">
          <a:blip r:embed="rId3">
            <a:alphaModFix/>
          </a:blip>
          <a:srcRect b="0" l="0" r="13525" t="61646"/>
          <a:stretch/>
        </p:blipFill>
        <p:spPr>
          <a:xfrm>
            <a:off x="391807" y="1212088"/>
            <a:ext cx="6679721" cy="710862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30"/>
          <p:cNvSpPr txBox="1"/>
          <p:nvPr/>
        </p:nvSpPr>
        <p:spPr>
          <a:xfrm>
            <a:off x="2652407" y="2320462"/>
            <a:ext cx="198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rwx </a:t>
            </a:r>
            <a:r>
              <a:rPr lang="en-US" sz="18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rwx </a:t>
            </a:r>
            <a:r>
              <a:rPr lang="en-US" sz="1800">
                <a:solidFill>
                  <a:srgbClr val="FF00FF"/>
                </a:solidFill>
                <a:latin typeface="Roboto Mono"/>
                <a:ea typeface="Roboto Mono"/>
                <a:cs typeface="Roboto Mono"/>
                <a:sym typeface="Roboto Mono"/>
              </a:rPr>
              <a:t>rwx</a:t>
            </a:r>
            <a:endParaRPr sz="1800">
              <a:solidFill>
                <a:srgbClr val="FF00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65" name="Google Shape;165;p30"/>
          <p:cNvSpPr txBox="1"/>
          <p:nvPr/>
        </p:nvSpPr>
        <p:spPr>
          <a:xfrm>
            <a:off x="391807" y="2972012"/>
            <a:ext cx="690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5"/>
                </a:solidFill>
              </a:rPr>
              <a:t>user (alice) 		</a:t>
            </a:r>
            <a:r>
              <a:rPr lang="en-US" sz="1800">
                <a:solidFill>
                  <a:schemeClr val="accent4"/>
                </a:solidFill>
              </a:rPr>
              <a:t>group (developers)</a:t>
            </a:r>
            <a:r>
              <a:rPr lang="en-US" sz="1800">
                <a:solidFill>
                  <a:schemeClr val="accent5"/>
                </a:solidFill>
              </a:rPr>
              <a:t> 	</a:t>
            </a:r>
            <a:r>
              <a:rPr lang="en-US" sz="1800">
                <a:solidFill>
                  <a:srgbClr val="FF00FF"/>
                </a:solidFill>
              </a:rPr>
              <a:t>others (everyone else)</a:t>
            </a:r>
            <a:endParaRPr sz="1800">
              <a:solidFill>
                <a:srgbClr val="FF00FF"/>
              </a:solidFill>
            </a:endParaRPr>
          </a:p>
        </p:txBody>
      </p:sp>
      <p:cxnSp>
        <p:nvCxnSpPr>
          <p:cNvPr id="166" name="Google Shape;166;p30"/>
          <p:cNvCxnSpPr/>
          <p:nvPr/>
        </p:nvCxnSpPr>
        <p:spPr>
          <a:xfrm flipH="1" rot="10800000">
            <a:off x="1339307" y="2649162"/>
            <a:ext cx="1315200" cy="4653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" name="Google Shape;167;p30"/>
          <p:cNvCxnSpPr>
            <a:endCxn id="164" idx="2"/>
          </p:cNvCxnSpPr>
          <p:nvPr/>
        </p:nvCxnSpPr>
        <p:spPr>
          <a:xfrm flipH="1" rot="10800000">
            <a:off x="3480407" y="2782162"/>
            <a:ext cx="166500" cy="3081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" name="Google Shape;168;p30"/>
          <p:cNvCxnSpPr/>
          <p:nvPr/>
        </p:nvCxnSpPr>
        <p:spPr>
          <a:xfrm rot="10800000">
            <a:off x="4410982" y="2598437"/>
            <a:ext cx="1283100" cy="3957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9" name="Google Shape;169;p30"/>
          <p:cNvSpPr/>
          <p:nvPr/>
        </p:nvSpPr>
        <p:spPr>
          <a:xfrm>
            <a:off x="924857" y="1432900"/>
            <a:ext cx="1015800" cy="308100"/>
          </a:xfrm>
          <a:prstGeom prst="rect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30"/>
          <p:cNvSpPr/>
          <p:nvPr/>
        </p:nvSpPr>
        <p:spPr>
          <a:xfrm>
            <a:off x="2635810" y="1910237"/>
            <a:ext cx="1719300" cy="395700"/>
          </a:xfrm>
          <a:prstGeom prst="rect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1" name="Google Shape;171;p30"/>
          <p:cNvCxnSpPr>
            <a:stCxn id="169" idx="2"/>
            <a:endCxn id="170" idx="1"/>
          </p:cNvCxnSpPr>
          <p:nvPr/>
        </p:nvCxnSpPr>
        <p:spPr>
          <a:xfrm flipH="1" rot="-5400000">
            <a:off x="1850657" y="1323100"/>
            <a:ext cx="367200" cy="1203000"/>
          </a:xfrm>
          <a:prstGeom prst="bentConnector2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" name="Google Shape;172;p30"/>
          <p:cNvSpPr txBox="1"/>
          <p:nvPr/>
        </p:nvSpPr>
        <p:spPr>
          <a:xfrm>
            <a:off x="743082" y="3198437"/>
            <a:ext cx="497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u</a:t>
            </a:r>
            <a:endParaRPr sz="2400">
              <a:solidFill>
                <a:schemeClr val="accent5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73" name="Google Shape;173;p30"/>
          <p:cNvSpPr txBox="1"/>
          <p:nvPr/>
        </p:nvSpPr>
        <p:spPr>
          <a:xfrm>
            <a:off x="2983307" y="3198437"/>
            <a:ext cx="497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4"/>
                </a:solidFill>
                <a:latin typeface="Roboto Mono"/>
                <a:ea typeface="Roboto Mono"/>
                <a:cs typeface="Roboto Mono"/>
                <a:sym typeface="Roboto Mono"/>
              </a:rPr>
              <a:t>g</a:t>
            </a:r>
            <a:endParaRPr sz="2400">
              <a:solidFill>
                <a:schemeClr val="accent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74" name="Google Shape;174;p30"/>
          <p:cNvSpPr txBox="1"/>
          <p:nvPr/>
        </p:nvSpPr>
        <p:spPr>
          <a:xfrm>
            <a:off x="5359932" y="3198437"/>
            <a:ext cx="497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FF"/>
                </a:solidFill>
                <a:latin typeface="Roboto Mono"/>
                <a:ea typeface="Roboto Mono"/>
                <a:cs typeface="Roboto Mono"/>
                <a:sym typeface="Roboto Mono"/>
              </a:rPr>
              <a:t>o</a:t>
            </a:r>
            <a:endParaRPr sz="2400">
              <a:solidFill>
                <a:srgbClr val="FF00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75" name="Google Shape;175;p30"/>
          <p:cNvSpPr txBox="1"/>
          <p:nvPr/>
        </p:nvSpPr>
        <p:spPr>
          <a:xfrm>
            <a:off x="7218000" y="2373905"/>
            <a:ext cx="1719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r  = read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w = write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x  = execute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76" name="Google Shape;176;p30"/>
          <p:cNvSpPr txBox="1"/>
          <p:nvPr/>
        </p:nvSpPr>
        <p:spPr>
          <a:xfrm>
            <a:off x="4545150" y="1877225"/>
            <a:ext cx="2754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2"/>
                </a:solidFill>
              </a:rPr>
              <a:t>= </a:t>
            </a:r>
            <a:r>
              <a:rPr lang="en-US" sz="1800">
                <a:solidFill>
                  <a:schemeClr val="accent5"/>
                </a:solidFill>
              </a:rPr>
              <a:t>7</a:t>
            </a:r>
            <a:r>
              <a:rPr lang="en-US" sz="1800">
                <a:solidFill>
                  <a:schemeClr val="lt2"/>
                </a:solidFill>
              </a:rPr>
              <a:t> </a:t>
            </a:r>
            <a:r>
              <a:rPr lang="en-US" sz="1800">
                <a:solidFill>
                  <a:schemeClr val="accent4"/>
                </a:solidFill>
              </a:rPr>
              <a:t>5</a:t>
            </a:r>
            <a:r>
              <a:rPr lang="en-US" sz="1800">
                <a:solidFill>
                  <a:schemeClr val="lt2"/>
                </a:solidFill>
              </a:rPr>
              <a:t> </a:t>
            </a:r>
            <a:r>
              <a:rPr lang="en-US" sz="1800">
                <a:solidFill>
                  <a:srgbClr val="FF00FF"/>
                </a:solidFill>
              </a:rPr>
              <a:t>4  </a:t>
            </a:r>
            <a:r>
              <a:rPr lang="en-US" sz="1800">
                <a:solidFill>
                  <a:srgbClr val="B7B7B7"/>
                </a:solidFill>
              </a:rPr>
              <a:t>(Base 8 - Octal)</a:t>
            </a:r>
            <a:endParaRPr sz="1800">
              <a:solidFill>
                <a:srgbClr val="B7B7B7"/>
              </a:solidFill>
            </a:endParaRPr>
          </a:p>
        </p:txBody>
      </p:sp>
      <p:sp>
        <p:nvSpPr>
          <p:cNvPr id="177" name="Google Shape;177;p30"/>
          <p:cNvSpPr txBox="1"/>
          <p:nvPr/>
        </p:nvSpPr>
        <p:spPr>
          <a:xfrm>
            <a:off x="1668175" y="3840650"/>
            <a:ext cx="6159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2"/>
                </a:solidFill>
              </a:rPr>
              <a:t>chmod +x script.sh</a:t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2"/>
                </a:solidFill>
              </a:rPr>
              <a:t>chmod </a:t>
            </a:r>
            <a:r>
              <a:rPr lang="en-US" sz="1800">
                <a:solidFill>
                  <a:schemeClr val="accent5"/>
                </a:solidFill>
              </a:rPr>
              <a:t>u</a:t>
            </a:r>
            <a:r>
              <a:rPr lang="en-US" sz="1800">
                <a:solidFill>
                  <a:schemeClr val="lt2"/>
                </a:solidFill>
              </a:rPr>
              <a:t>+x script.sh</a:t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2"/>
                </a:solidFill>
              </a:rPr>
              <a:t>chmod </a:t>
            </a:r>
            <a:r>
              <a:rPr lang="en-US" sz="1800">
                <a:solidFill>
                  <a:srgbClr val="FF00FF"/>
                </a:solidFill>
              </a:rPr>
              <a:t>o</a:t>
            </a:r>
            <a:r>
              <a:rPr lang="en-US" sz="1800">
                <a:solidFill>
                  <a:schemeClr val="lt2"/>
                </a:solidFill>
              </a:rPr>
              <a:t>-x script.sh</a:t>
            </a:r>
            <a:endParaRPr sz="18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2"/>
                </a:solidFill>
              </a:rPr>
              <a:t>chmod </a:t>
            </a:r>
            <a:r>
              <a:rPr lang="en-US" sz="1800">
                <a:solidFill>
                  <a:schemeClr val="accent5"/>
                </a:solidFill>
              </a:rPr>
              <a:t>7</a:t>
            </a:r>
            <a:r>
              <a:rPr lang="en-US" sz="1800">
                <a:solidFill>
                  <a:schemeClr val="accent4"/>
                </a:solidFill>
              </a:rPr>
              <a:t>5</a:t>
            </a:r>
            <a:r>
              <a:rPr lang="en-US" sz="1800">
                <a:solidFill>
                  <a:srgbClr val="FF00FF"/>
                </a:solidFill>
              </a:rPr>
              <a:t>5</a:t>
            </a:r>
            <a:r>
              <a:rPr lang="en-US" sz="1800">
                <a:solidFill>
                  <a:schemeClr val="lt2"/>
                </a:solidFill>
              </a:rPr>
              <a:t> script.sh</a:t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String Methods Overview</a:t>
            </a:r>
            <a:endParaRPr sz="2520"/>
          </a:p>
        </p:txBody>
      </p:sp>
      <p:sp>
        <p:nvSpPr>
          <p:cNvPr id="183" name="Google Shape;183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• Python strings come with many built-in methods for common operations and checks.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/>
              <a:t>  ◦ Facilitates easy manipulation of string data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/>
              <a:t>• These methods help convert case, check characteristics, and find or replace string contents effectively.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/>
              <a:t>  ◦ </a:t>
            </a:r>
            <a:r>
              <a:rPr lang="en-US" sz="1600">
                <a:solidFill>
                  <a:schemeClr val="accent5"/>
                </a:solidFill>
              </a:rPr>
              <a:t>s.lower(), s.upper()</a:t>
            </a:r>
            <a:endParaRPr sz="16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/>
              <a:t>  ◦ </a:t>
            </a:r>
            <a:r>
              <a:rPr lang="en-US" sz="1600">
                <a:solidFill>
                  <a:schemeClr val="accent5"/>
                </a:solidFill>
              </a:rPr>
              <a:t>s.isalpha(), s.isdigit(), s.isspace()</a:t>
            </a:r>
            <a:endParaRPr sz="16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/>
              <a:t>  ◦ </a:t>
            </a:r>
            <a:r>
              <a:rPr lang="en-US" sz="1600">
                <a:solidFill>
                  <a:schemeClr val="accent5"/>
                </a:solidFill>
              </a:rPr>
              <a:t>s.startswith(</a:t>
            </a:r>
            <a:r>
              <a:rPr lang="en-US" sz="1600">
                <a:solidFill>
                  <a:srgbClr val="33BD80"/>
                </a:solidFill>
              </a:rPr>
              <a:t>'other'</a:t>
            </a:r>
            <a:r>
              <a:rPr lang="en-US" sz="1600">
                <a:solidFill>
                  <a:schemeClr val="accent5"/>
                </a:solidFill>
              </a:rPr>
              <a:t>), s.endswith(</a:t>
            </a:r>
            <a:r>
              <a:rPr lang="en-US" sz="1600">
                <a:solidFill>
                  <a:srgbClr val="33BD80"/>
                </a:solidFill>
              </a:rPr>
              <a:t>'other'</a:t>
            </a:r>
            <a:r>
              <a:rPr lang="en-US" sz="1600">
                <a:solidFill>
                  <a:schemeClr val="accent5"/>
                </a:solidFill>
              </a:rPr>
              <a:t>)</a:t>
            </a:r>
            <a:endParaRPr sz="16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/>
              <a:t>  ◦ </a:t>
            </a:r>
            <a:r>
              <a:rPr lang="en-US" sz="1600">
                <a:solidFill>
                  <a:schemeClr val="accent5"/>
                </a:solidFill>
              </a:rPr>
              <a:t>s.find(</a:t>
            </a:r>
            <a:r>
              <a:rPr lang="en-US" sz="1600">
                <a:solidFill>
                  <a:srgbClr val="33BD80"/>
                </a:solidFill>
              </a:rPr>
              <a:t>'other'</a:t>
            </a:r>
            <a:r>
              <a:rPr lang="en-US" sz="1600">
                <a:solidFill>
                  <a:schemeClr val="accent5"/>
                </a:solidFill>
              </a:rPr>
              <a:t>)</a:t>
            </a:r>
            <a:endParaRPr sz="16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Practice String methods in the interpreter</a:t>
            </a:r>
            <a:endParaRPr/>
          </a:p>
        </p:txBody>
      </p:sp>
      <p:pic>
        <p:nvPicPr>
          <p:cNvPr id="189" name="Google Shape;189;p32" title="Screenshot 2025-11-08 at 10.31.3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386000"/>
            <a:ext cx="2372325" cy="146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32" title="Screenshot 2025-11-08 at 10.32.15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5608" y="1550525"/>
            <a:ext cx="2549800" cy="3440574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2"/>
          <p:cNvSpPr txBox="1"/>
          <p:nvPr/>
        </p:nvSpPr>
        <p:spPr>
          <a:xfrm>
            <a:off x="566725" y="969852"/>
            <a:ext cx="203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2"/>
                </a:solidFill>
              </a:rPr>
              <a:t>lower, upper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192" name="Google Shape;192;p32"/>
          <p:cNvSpPr txBox="1"/>
          <p:nvPr/>
        </p:nvSpPr>
        <p:spPr>
          <a:xfrm>
            <a:off x="6219150" y="1088825"/>
            <a:ext cx="270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2"/>
                </a:solidFill>
              </a:rPr>
              <a:t>isalpha, isdigit, isspace</a:t>
            </a:r>
            <a:endParaRPr sz="1800">
              <a:solidFill>
                <a:schemeClr val="lt2"/>
              </a:solidFill>
            </a:endParaRPr>
          </a:p>
        </p:txBody>
      </p:sp>
      <p:pic>
        <p:nvPicPr>
          <p:cNvPr id="193" name="Google Shape;193;p32" title="Screenshot 2025-11-08 at 10.33.56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17359" y="1604000"/>
            <a:ext cx="2489100" cy="245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2"/>
          <p:cNvSpPr txBox="1"/>
          <p:nvPr/>
        </p:nvSpPr>
        <p:spPr>
          <a:xfrm>
            <a:off x="3460275" y="1080013"/>
            <a:ext cx="2702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2"/>
                </a:solidFill>
              </a:rPr>
              <a:t>startswith, endswith</a:t>
            </a:r>
            <a:endParaRPr sz="1800">
              <a:solidFill>
                <a:schemeClr val="lt2"/>
              </a:solidFill>
            </a:endParaRPr>
          </a:p>
        </p:txBody>
      </p:sp>
      <p:pic>
        <p:nvPicPr>
          <p:cNvPr id="195" name="Google Shape;195;p32" title="Screenshot 2025-11-08 at 10.35.14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1700" y="3215800"/>
            <a:ext cx="2842825" cy="186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2"/>
          <p:cNvSpPr txBox="1"/>
          <p:nvPr/>
        </p:nvSpPr>
        <p:spPr>
          <a:xfrm>
            <a:off x="840263" y="2836833"/>
            <a:ext cx="131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2"/>
                </a:solidFill>
              </a:rPr>
              <a:t>find</a:t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Practice String methods (cont’d)</a:t>
            </a:r>
            <a:endParaRPr/>
          </a:p>
        </p:txBody>
      </p:sp>
      <p:pic>
        <p:nvPicPr>
          <p:cNvPr id="202" name="Google Shape;202;p33" title="Screenshot 2025-11-08 at 10.36.4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951" y="1950950"/>
            <a:ext cx="7965999" cy="26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33"/>
          <p:cNvSpPr txBox="1"/>
          <p:nvPr/>
        </p:nvSpPr>
        <p:spPr>
          <a:xfrm>
            <a:off x="1454300" y="1390125"/>
            <a:ext cx="615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2"/>
                </a:solidFill>
              </a:rPr>
              <a:t>Predict the output for each line.</a:t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More </a:t>
            </a:r>
            <a:r>
              <a:rPr lang="en-US" sz="2520"/>
              <a:t>String Methods Examples</a:t>
            </a:r>
            <a:endParaRPr sz="2520"/>
          </a:p>
        </p:txBody>
      </p:sp>
      <p:sp>
        <p:nvSpPr>
          <p:cNvPr id="209" name="Google Shape;209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Example: </a:t>
            </a:r>
            <a:r>
              <a:rPr lang="en-US">
                <a:solidFill>
                  <a:schemeClr val="accent5"/>
                </a:solidFill>
              </a:rPr>
              <a:t>s.strip()</a:t>
            </a:r>
            <a:r>
              <a:rPr lang="en-US"/>
              <a:t> removes surrounding whitespace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</a:t>
            </a:r>
            <a:r>
              <a:rPr lang="en-US">
                <a:solidFill>
                  <a:schemeClr val="accent5"/>
                </a:solidFill>
              </a:rPr>
              <a:t>s.replace(</a:t>
            </a:r>
            <a:r>
              <a:rPr lang="en-US">
                <a:solidFill>
                  <a:srgbClr val="33BD80"/>
                </a:solidFill>
              </a:rPr>
              <a:t>'old', 'new'</a:t>
            </a:r>
            <a:r>
              <a:rPr lang="en-US">
                <a:solidFill>
                  <a:schemeClr val="accent5"/>
                </a:solidFill>
              </a:rPr>
              <a:t>) </a:t>
            </a:r>
            <a:r>
              <a:rPr lang="en-US"/>
              <a:t>changes substrings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• Methods such as </a:t>
            </a:r>
            <a:r>
              <a:rPr lang="en-US">
                <a:solidFill>
                  <a:schemeClr val="accent5"/>
                </a:solidFill>
              </a:rPr>
              <a:t>s.split(‘</a:t>
            </a:r>
            <a:r>
              <a:rPr lang="en-US">
                <a:solidFill>
                  <a:srgbClr val="33BD80"/>
                </a:solidFill>
              </a:rPr>
              <a:t>delim’</a:t>
            </a:r>
            <a:r>
              <a:rPr lang="en-US">
                <a:solidFill>
                  <a:schemeClr val="accent5"/>
                </a:solidFill>
              </a:rPr>
              <a:t>) </a:t>
            </a:r>
            <a:r>
              <a:rPr lang="en-US"/>
              <a:t>and </a:t>
            </a:r>
            <a:r>
              <a:rPr lang="en-US">
                <a:solidFill>
                  <a:schemeClr val="accent5"/>
                </a:solidFill>
              </a:rPr>
              <a:t>s.join(</a:t>
            </a:r>
            <a:r>
              <a:rPr lang="en-US">
                <a:solidFill>
                  <a:srgbClr val="33BD80"/>
                </a:solidFill>
              </a:rPr>
              <a:t>list</a:t>
            </a:r>
            <a:r>
              <a:rPr lang="en-US">
                <a:solidFill>
                  <a:schemeClr val="accent5"/>
                </a:solidFill>
              </a:rPr>
              <a:t>) </a:t>
            </a:r>
            <a:r>
              <a:rPr lang="en-US"/>
              <a:t>provide powerful tools for working with delimited data.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</a:t>
            </a:r>
            <a:r>
              <a:rPr lang="en-US">
                <a:solidFill>
                  <a:schemeClr val="accent5"/>
                </a:solidFill>
              </a:rPr>
              <a:t>Split </a:t>
            </a:r>
            <a:r>
              <a:rPr lang="en-US"/>
              <a:t>breaks string at the delimiter into a list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  ◦ </a:t>
            </a:r>
            <a:r>
              <a:rPr lang="en-US">
                <a:solidFill>
                  <a:schemeClr val="accent5"/>
                </a:solidFill>
              </a:rPr>
              <a:t>Join </a:t>
            </a:r>
            <a:r>
              <a:rPr lang="en-US"/>
              <a:t>combines list items into a single string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strip &amp; replace</a:t>
            </a:r>
            <a:endParaRPr/>
          </a:p>
        </p:txBody>
      </p:sp>
      <p:sp>
        <p:nvSpPr>
          <p:cNvPr id="215" name="Google Shape;215;p35"/>
          <p:cNvSpPr txBox="1"/>
          <p:nvPr/>
        </p:nvSpPr>
        <p:spPr>
          <a:xfrm>
            <a:off x="3556200" y="1017725"/>
            <a:ext cx="263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</a:endParaRPr>
          </a:p>
        </p:txBody>
      </p:sp>
      <p:pic>
        <p:nvPicPr>
          <p:cNvPr id="216" name="Google Shape;216;p35" title="Screenshot 2025-11-09 at 8.51.46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800" y="1108775"/>
            <a:ext cx="4126051" cy="386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35" title="Screenshot 2025-11-09 at 8.52.08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00275" y="1062225"/>
            <a:ext cx="3977129" cy="3960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split &amp; join</a:t>
            </a:r>
            <a:endParaRPr/>
          </a:p>
        </p:txBody>
      </p:sp>
      <p:pic>
        <p:nvPicPr>
          <p:cNvPr id="223" name="Google Shape;223;p36" title="Screenshot 2025-11-09 at 8.54.08 AM.png"/>
          <p:cNvPicPr preferRelativeResize="0"/>
          <p:nvPr/>
        </p:nvPicPr>
        <p:blipFill rotWithShape="1">
          <a:blip r:embed="rId3">
            <a:alphaModFix/>
          </a:blip>
          <a:srcRect b="3791" l="0" r="0" t="0"/>
          <a:stretch/>
        </p:blipFill>
        <p:spPr>
          <a:xfrm>
            <a:off x="244825" y="946087"/>
            <a:ext cx="4460251" cy="4061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36" title="Screenshot 2025-11-09 at 8.54.34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5475" y="1026015"/>
            <a:ext cx="4126125" cy="39016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Predict the outputs:</a:t>
            </a:r>
            <a:endParaRPr/>
          </a:p>
        </p:txBody>
      </p:sp>
      <p:sp>
        <p:nvSpPr>
          <p:cNvPr id="230" name="Google Shape;230;p37"/>
          <p:cNvSpPr txBox="1"/>
          <p:nvPr/>
        </p:nvSpPr>
        <p:spPr>
          <a:xfrm>
            <a:off x="2112107" y="3511200"/>
            <a:ext cx="3000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"-"</a:t>
            </a:r>
            <a:r>
              <a:rPr lang="en-US">
                <a:solidFill>
                  <a:schemeClr val="dk1"/>
                </a:solidFill>
              </a:rPr>
              <a:t>.join(</a:t>
            </a:r>
            <a:r>
              <a:rPr lang="en-US">
                <a:solidFill>
                  <a:schemeClr val="accent5"/>
                </a:solidFill>
              </a:rPr>
              <a:t>"banana".</a:t>
            </a:r>
            <a:r>
              <a:rPr lang="en-US">
                <a:solidFill>
                  <a:schemeClr val="dk1"/>
                </a:solidFill>
              </a:rPr>
              <a:t>split(</a:t>
            </a:r>
            <a:r>
              <a:rPr lang="en-US">
                <a:solidFill>
                  <a:schemeClr val="accent5"/>
                </a:solidFill>
              </a:rPr>
              <a:t>"na"</a:t>
            </a:r>
            <a:r>
              <a:rPr lang="en-US">
                <a:solidFill>
                  <a:schemeClr val="dk1"/>
                </a:solidFill>
              </a:rPr>
              <a:t>))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"".</a:t>
            </a:r>
            <a:r>
              <a:rPr lang="en-US">
                <a:solidFill>
                  <a:schemeClr val="dk1"/>
                </a:solidFill>
              </a:rPr>
              <a:t>join(</a:t>
            </a:r>
            <a:r>
              <a:rPr lang="en-US">
                <a:solidFill>
                  <a:schemeClr val="accent5"/>
                </a:solidFill>
              </a:rPr>
              <a:t>"  a  b  c  ".</a:t>
            </a:r>
            <a:r>
              <a:rPr lang="en-US">
                <a:solidFill>
                  <a:schemeClr val="dk1"/>
                </a:solidFill>
              </a:rPr>
              <a:t>strip().split())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",".</a:t>
            </a:r>
            <a:r>
              <a:rPr lang="en-US">
                <a:solidFill>
                  <a:schemeClr val="dk1"/>
                </a:solidFill>
              </a:rPr>
              <a:t>join(</a:t>
            </a:r>
            <a:r>
              <a:rPr lang="en-US">
                <a:solidFill>
                  <a:schemeClr val="accent5"/>
                </a:solidFill>
              </a:rPr>
              <a:t>" 1 2 3 "</a:t>
            </a:r>
            <a:r>
              <a:rPr lang="en-US">
                <a:solidFill>
                  <a:schemeClr val="dk1"/>
                </a:solidFill>
              </a:rPr>
              <a:t>.strip().split(</a:t>
            </a:r>
            <a:r>
              <a:rPr lang="en-US">
                <a:solidFill>
                  <a:schemeClr val="accent5"/>
                </a:solidFill>
              </a:rPr>
              <a:t>" "</a:t>
            </a:r>
            <a:r>
              <a:rPr lang="en-US">
                <a:solidFill>
                  <a:schemeClr val="dk1"/>
                </a:solidFill>
              </a:rPr>
              <a:t>))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"X"</a:t>
            </a:r>
            <a:r>
              <a:rPr lang="en-US">
                <a:solidFill>
                  <a:schemeClr val="dk1"/>
                </a:solidFill>
              </a:rPr>
              <a:t>.join(</a:t>
            </a:r>
            <a:r>
              <a:rPr lang="en-US">
                <a:solidFill>
                  <a:schemeClr val="accent5"/>
                </a:solidFill>
              </a:rPr>
              <a:t>"".</a:t>
            </a:r>
            <a:r>
              <a:rPr lang="en-US">
                <a:solidFill>
                  <a:schemeClr val="dk1"/>
                </a:solidFill>
              </a:rPr>
              <a:t>replace(</a:t>
            </a:r>
            <a:r>
              <a:rPr lang="en-US">
                <a:solidFill>
                  <a:schemeClr val="accent5"/>
                </a:solidFill>
              </a:rPr>
              <a:t>"", "?"</a:t>
            </a:r>
            <a:r>
              <a:rPr lang="en-US">
                <a:solidFill>
                  <a:schemeClr val="dk1"/>
                </a:solidFill>
              </a:rPr>
              <a:t>))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31" name="Google Shape;231;p37"/>
          <p:cNvSpPr txBox="1"/>
          <p:nvPr/>
        </p:nvSpPr>
        <p:spPr>
          <a:xfrm>
            <a:off x="2047982" y="2309750"/>
            <a:ext cx="3000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"-"</a:t>
            </a:r>
            <a:r>
              <a:rPr lang="en-US">
                <a:solidFill>
                  <a:schemeClr val="dk1"/>
                </a:solidFill>
              </a:rPr>
              <a:t>.join(</a:t>
            </a:r>
            <a:r>
              <a:rPr lang="en-US">
                <a:solidFill>
                  <a:schemeClr val="accent5"/>
                </a:solidFill>
              </a:rPr>
              <a:t>"ABC"</a:t>
            </a:r>
            <a:r>
              <a:rPr lang="en-US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",".</a:t>
            </a:r>
            <a:r>
              <a:rPr lang="en-US">
                <a:solidFill>
                  <a:schemeClr val="dk1"/>
                </a:solidFill>
              </a:rPr>
              <a:t>join(</a:t>
            </a:r>
            <a:r>
              <a:rPr lang="en-US">
                <a:solidFill>
                  <a:schemeClr val="accent5"/>
                </a:solidFill>
              </a:rPr>
              <a:t>"12345"</a:t>
            </a:r>
            <a:r>
              <a:rPr lang="en-US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"".</a:t>
            </a:r>
            <a:r>
              <a:rPr lang="en-US">
                <a:solidFill>
                  <a:schemeClr val="dk1"/>
                </a:solidFill>
              </a:rPr>
              <a:t>join(</a:t>
            </a:r>
            <a:r>
              <a:rPr lang="en-US">
                <a:solidFill>
                  <a:schemeClr val="accent5"/>
                </a:solidFill>
              </a:rPr>
              <a:t>"   "</a:t>
            </a:r>
            <a:r>
              <a:rPr lang="en-US">
                <a:solidFill>
                  <a:schemeClr val="dk1"/>
                </a:solidFill>
              </a:rPr>
              <a:t>.split())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"."</a:t>
            </a:r>
            <a:r>
              <a:rPr lang="en-US">
                <a:solidFill>
                  <a:schemeClr val="dk1"/>
                </a:solidFill>
              </a:rPr>
              <a:t>.join(</a:t>
            </a:r>
            <a:r>
              <a:rPr lang="en-US">
                <a:solidFill>
                  <a:schemeClr val="accent5"/>
                </a:solidFill>
              </a:rPr>
              <a:t>"hello"</a:t>
            </a:r>
            <a:r>
              <a:rPr lang="en-US">
                <a:solidFill>
                  <a:schemeClr val="dk1"/>
                </a:solidFill>
              </a:rPr>
              <a:t>.upper().split(</a:t>
            </a:r>
            <a:r>
              <a:rPr lang="en-US">
                <a:solidFill>
                  <a:schemeClr val="accent5"/>
                </a:solidFill>
              </a:rPr>
              <a:t>"L"</a:t>
            </a:r>
            <a:r>
              <a:rPr lang="en-US">
                <a:solidFill>
                  <a:schemeClr val="dk1"/>
                </a:solidFill>
              </a:rPr>
              <a:t>))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32" name="Google Shape;232;p37"/>
          <p:cNvSpPr txBox="1"/>
          <p:nvPr/>
        </p:nvSpPr>
        <p:spPr>
          <a:xfrm>
            <a:off x="2047982" y="1090725"/>
            <a:ext cx="3000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"  python  "</a:t>
            </a:r>
            <a:r>
              <a:rPr lang="en-US">
                <a:solidFill>
                  <a:schemeClr val="dk1"/>
                </a:solidFill>
              </a:rPr>
              <a:t>.strip()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"mississippi".</a:t>
            </a:r>
            <a:r>
              <a:rPr lang="en-US">
                <a:solidFill>
                  <a:schemeClr val="dk1"/>
                </a:solidFill>
              </a:rPr>
              <a:t>replace(</a:t>
            </a:r>
            <a:r>
              <a:rPr lang="en-US">
                <a:solidFill>
                  <a:schemeClr val="accent5"/>
                </a:solidFill>
              </a:rPr>
              <a:t>"ss", "SS"</a:t>
            </a:r>
            <a:r>
              <a:rPr lang="en-US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"1-2-3-4-5"</a:t>
            </a:r>
            <a:r>
              <a:rPr lang="en-US">
                <a:solidFill>
                  <a:schemeClr val="dk1"/>
                </a:solidFill>
              </a:rPr>
              <a:t>.split(</a:t>
            </a:r>
            <a:r>
              <a:rPr lang="en-US">
                <a:solidFill>
                  <a:schemeClr val="accent5"/>
                </a:solidFill>
              </a:rPr>
              <a:t>"-"</a:t>
            </a:r>
            <a:r>
              <a:rPr lang="en-US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"."</a:t>
            </a:r>
            <a:r>
              <a:rPr lang="en-US">
                <a:solidFill>
                  <a:schemeClr val="dk1"/>
                </a:solidFill>
              </a:rPr>
              <a:t>.join(</a:t>
            </a:r>
            <a:r>
              <a:rPr lang="en-US">
                <a:solidFill>
                  <a:schemeClr val="accent5"/>
                </a:solidFill>
              </a:rPr>
              <a:t>["www", "example", "com"]</a:t>
            </a:r>
            <a:r>
              <a:rPr lang="en-US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233" name="Google Shape;233;p37"/>
          <p:cNvSpPr txBox="1"/>
          <p:nvPr/>
        </p:nvSpPr>
        <p:spPr>
          <a:xfrm>
            <a:off x="5922575" y="2957125"/>
            <a:ext cx="2703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</a:rPr>
              <a:t>how many list elements?</a:t>
            </a:r>
            <a:endParaRPr>
              <a:solidFill>
                <a:srgbClr val="FF0000"/>
              </a:solidFill>
            </a:endParaRPr>
          </a:p>
        </p:txBody>
      </p:sp>
      <p:cxnSp>
        <p:nvCxnSpPr>
          <p:cNvPr id="234" name="Google Shape;234;p37"/>
          <p:cNvCxnSpPr>
            <a:endCxn id="233" idx="1"/>
          </p:cNvCxnSpPr>
          <p:nvPr/>
        </p:nvCxnSpPr>
        <p:spPr>
          <a:xfrm flipH="1" rot="10800000">
            <a:off x="4615475" y="3157225"/>
            <a:ext cx="1307100" cy="30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5" name="Google Shape;235;p37"/>
          <p:cNvCxnSpPr/>
          <p:nvPr/>
        </p:nvCxnSpPr>
        <p:spPr>
          <a:xfrm flipH="1" rot="10800000">
            <a:off x="4461800" y="3311200"/>
            <a:ext cx="1391700" cy="4074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Using Slice Syntax with Strings</a:t>
            </a:r>
            <a:endParaRPr sz="2520"/>
          </a:p>
        </p:txBody>
      </p:sp>
      <p:sp>
        <p:nvSpPr>
          <p:cNvPr id="241" name="Google Shape;241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• Slices allow you to refer to sub-parts of sequences like strings, using start and end indices.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Syntax: </a:t>
            </a:r>
            <a:r>
              <a:rPr lang="en-US">
                <a:solidFill>
                  <a:schemeClr val="accent5"/>
                </a:solidFill>
              </a:rPr>
              <a:t>s[</a:t>
            </a:r>
            <a:r>
              <a:rPr lang="en-US">
                <a:solidFill>
                  <a:srgbClr val="33BD80"/>
                </a:solidFill>
              </a:rPr>
              <a:t>start:end</a:t>
            </a:r>
            <a:r>
              <a:rPr lang="en-US">
                <a:solidFill>
                  <a:schemeClr val="accent5"/>
                </a:solidFill>
              </a:rPr>
              <a:t>]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Does not include the 'end' index character. </a:t>
            </a:r>
            <a:r>
              <a:rPr lang="en-US">
                <a:solidFill>
                  <a:srgbClr val="FF0000"/>
                </a:solidFill>
              </a:rPr>
              <a:t>Why not?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• Omitting start or end in slice defaults to beginning or end of the string, respectively, allowing flexibility.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</a:t>
            </a:r>
            <a:r>
              <a:rPr lang="en-US">
                <a:solidFill>
                  <a:schemeClr val="accent5"/>
                </a:solidFill>
              </a:rPr>
              <a:t>s = ”</a:t>
            </a:r>
            <a:r>
              <a:rPr lang="en-US">
                <a:solidFill>
                  <a:srgbClr val="33BD80"/>
                </a:solidFill>
              </a:rPr>
              <a:t>Hello</a:t>
            </a:r>
            <a:r>
              <a:rPr lang="en-US">
                <a:solidFill>
                  <a:schemeClr val="accent5"/>
                </a:solidFill>
              </a:rPr>
              <a:t>”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</a:t>
            </a:r>
            <a:r>
              <a:rPr lang="en-US">
                <a:solidFill>
                  <a:schemeClr val="accent5"/>
                </a:solidFill>
              </a:rPr>
              <a:t>s[</a:t>
            </a:r>
            <a:r>
              <a:rPr lang="en-US">
                <a:solidFill>
                  <a:schemeClr val="accent4"/>
                </a:solidFill>
              </a:rPr>
              <a:t>1:</a:t>
            </a:r>
            <a:r>
              <a:rPr lang="en-US">
                <a:solidFill>
                  <a:schemeClr val="accent5"/>
                </a:solidFill>
              </a:rPr>
              <a:t>] </a:t>
            </a:r>
            <a:r>
              <a:rPr lang="en-US"/>
              <a:t>gives 'ello' (from index 1 onward)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</a:t>
            </a:r>
            <a:r>
              <a:rPr lang="en-US">
                <a:solidFill>
                  <a:schemeClr val="accent5"/>
                </a:solidFill>
              </a:rPr>
              <a:t>s[</a:t>
            </a:r>
            <a:r>
              <a:rPr lang="en-US">
                <a:solidFill>
                  <a:schemeClr val="accent4"/>
                </a:solidFill>
              </a:rPr>
              <a:t>:3</a:t>
            </a:r>
            <a:r>
              <a:rPr lang="en-US">
                <a:solidFill>
                  <a:schemeClr val="accent5"/>
                </a:solidFill>
              </a:rPr>
              <a:t>] </a:t>
            </a:r>
            <a:r>
              <a:rPr lang="en-US"/>
              <a:t>gives 'Hel' (up to index 3)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cxnSp>
        <p:nvCxnSpPr>
          <p:cNvPr id="242" name="Google Shape;242;p38"/>
          <p:cNvCxnSpPr/>
          <p:nvPr/>
        </p:nvCxnSpPr>
        <p:spPr>
          <a:xfrm>
            <a:off x="6134550" y="2616350"/>
            <a:ext cx="981000" cy="366600"/>
          </a:xfrm>
          <a:prstGeom prst="curvedConnector3">
            <a:avLst>
              <a:gd fmla="val 85869" name="adj1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Slice Syntax with Strings: Negative Indices</a:t>
            </a:r>
            <a:endParaRPr sz="2520"/>
          </a:p>
        </p:txBody>
      </p:sp>
      <p:sp>
        <p:nvSpPr>
          <p:cNvPr id="248" name="Google Shape;248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• Negative indices can be used to refer to positions from the string's end, simplifying reverse-order access.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</a:t>
            </a:r>
            <a:r>
              <a:rPr lang="en-US">
                <a:solidFill>
                  <a:schemeClr val="accent5"/>
                </a:solidFill>
              </a:rPr>
              <a:t>s[</a:t>
            </a:r>
            <a:r>
              <a:rPr lang="en-US">
                <a:solidFill>
                  <a:schemeClr val="accent4"/>
                </a:solidFill>
              </a:rPr>
              <a:t>-1</a:t>
            </a:r>
            <a:r>
              <a:rPr lang="en-US">
                <a:solidFill>
                  <a:schemeClr val="accent5"/>
                </a:solidFill>
              </a:rPr>
              <a:t>] </a:t>
            </a:r>
            <a:r>
              <a:rPr lang="en-US"/>
              <a:t>is the last character 'o'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  ◦ </a:t>
            </a:r>
            <a:r>
              <a:rPr lang="en-US">
                <a:solidFill>
                  <a:schemeClr val="accent5"/>
                </a:solidFill>
              </a:rPr>
              <a:t>s[</a:t>
            </a:r>
            <a:r>
              <a:rPr lang="en-US">
                <a:solidFill>
                  <a:schemeClr val="accent4"/>
                </a:solidFill>
              </a:rPr>
              <a:t>-2:</a:t>
            </a:r>
            <a:r>
              <a:rPr lang="en-US">
                <a:solidFill>
                  <a:schemeClr val="accent5"/>
                </a:solidFill>
              </a:rPr>
              <a:t>]</a:t>
            </a:r>
            <a:r>
              <a:rPr lang="en-US"/>
              <a:t> provides the last two characters</a:t>
            </a:r>
            <a:endParaRPr/>
          </a:p>
        </p:txBody>
      </p:sp>
      <p:pic>
        <p:nvPicPr>
          <p:cNvPr id="249" name="Google Shape;249;p39" title="Screenshot 2025-11-19 at 11.00.36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5600" y="2365513"/>
            <a:ext cx="2884700" cy="1797025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9"/>
          <p:cNvSpPr txBox="1"/>
          <p:nvPr/>
        </p:nvSpPr>
        <p:spPr>
          <a:xfrm>
            <a:off x="882025" y="3726300"/>
            <a:ext cx="570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Give two ways to get ‘el’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20"/>
              <a:t>Code Example: String Slice and Access</a:t>
            </a:r>
            <a:endParaRPr sz="2520"/>
          </a:p>
        </p:txBody>
      </p:sp>
      <p:sp>
        <p:nvSpPr>
          <p:cNvPr id="256" name="Google Shape;256;p40"/>
          <p:cNvSpPr txBox="1"/>
          <p:nvPr>
            <p:ph idx="1" type="body"/>
          </p:nvPr>
        </p:nvSpPr>
        <p:spPr>
          <a:xfrm>
            <a:off x="311700" y="1152475"/>
            <a:ext cx="4040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s = 'Hello'</a:t>
            </a:r>
            <a:endParaRPr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s[1:4] </a:t>
            </a:r>
            <a:r>
              <a:rPr lang="en-US"/>
              <a:t> # 'ell'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s[1:] </a:t>
            </a:r>
            <a:r>
              <a:rPr lang="en-US"/>
              <a:t>  # 'ello'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s[:3] </a:t>
            </a:r>
            <a:r>
              <a:rPr lang="en-US"/>
              <a:t>  # 'Hel'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5"/>
                </a:solidFill>
              </a:rPr>
              <a:t>s[-1]  </a:t>
            </a:r>
            <a:r>
              <a:rPr lang="en-US"/>
              <a:t> # 'o'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  ◦ Illustrates using slices for string manipulation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  ◦ Highlights Python's flexibility with indices</a:t>
            </a:r>
            <a:endParaRPr/>
          </a:p>
        </p:txBody>
      </p:sp>
      <p:sp>
        <p:nvSpPr>
          <p:cNvPr id="257" name="Google Shape;257;p40"/>
          <p:cNvSpPr txBox="1"/>
          <p:nvPr/>
        </p:nvSpPr>
        <p:spPr>
          <a:xfrm>
            <a:off x="4448425" y="1628450"/>
            <a:ext cx="471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4"/>
              </a:solidFill>
            </a:endParaRPr>
          </a:p>
        </p:txBody>
      </p:sp>
      <p:pic>
        <p:nvPicPr>
          <p:cNvPr id="258" name="Google Shape;258;p40" title="Screenshot 2025-11-09 at 9.28.06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7500" y="1287151"/>
            <a:ext cx="4817425" cy="328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Slice techniques</a:t>
            </a:r>
            <a:endParaRPr/>
          </a:p>
        </p:txBody>
      </p:sp>
      <p:pic>
        <p:nvPicPr>
          <p:cNvPr id="264" name="Google Shape;264;p41" title="Screenshot 2025-11-09 at 9.36.0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038" y="974962"/>
            <a:ext cx="3592176" cy="277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41" title="Screenshot 2025-11-09 at 9.35.38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73550" y="1095038"/>
            <a:ext cx="3047625" cy="243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41" title="Screenshot 2025-11-09 at 9.37.31 AM.png"/>
          <p:cNvPicPr preferRelativeResize="0"/>
          <p:nvPr/>
        </p:nvPicPr>
        <p:blipFill rotWithShape="1">
          <a:blip r:embed="rId5">
            <a:alphaModFix/>
          </a:blip>
          <a:srcRect b="48663" l="0" r="0" t="0"/>
          <a:stretch/>
        </p:blipFill>
        <p:spPr>
          <a:xfrm>
            <a:off x="4255950" y="3612275"/>
            <a:ext cx="4330801" cy="137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Slice Exercises [Run in Interpreter]</a:t>
            </a:r>
            <a:endParaRPr/>
          </a:p>
        </p:txBody>
      </p:sp>
      <p:sp>
        <p:nvSpPr>
          <p:cNvPr id="272" name="Google Shape;272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Extract the file extension </a:t>
            </a:r>
            <a:r>
              <a:rPr lang="en-US">
                <a:solidFill>
                  <a:schemeClr val="accent4"/>
                </a:solidFill>
              </a:rPr>
              <a:t>file = "document.final.v3.pdf"</a:t>
            </a:r>
            <a:endParaRPr>
              <a:solidFill>
                <a:schemeClr val="accent4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Remove the file extension above.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Get only the year </a:t>
            </a:r>
            <a:r>
              <a:rPr lang="en-US">
                <a:solidFill>
                  <a:schemeClr val="accent4"/>
                </a:solidFill>
              </a:rPr>
              <a:t>date = "2025-11-20"</a:t>
            </a:r>
            <a:endParaRPr>
              <a:solidFill>
                <a:schemeClr val="accent4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Extract the user name from the email </a:t>
            </a:r>
            <a:r>
              <a:rPr lang="en-US">
                <a:solidFill>
                  <a:schemeClr val="accent4"/>
                </a:solidFill>
              </a:rPr>
              <a:t>email = "</a:t>
            </a:r>
            <a:r>
              <a:rPr lang="en-US" u="sng">
                <a:solidFill>
                  <a:schemeClr val="hlink"/>
                </a:solidFill>
                <a:hlinkClick r:id="rId3"/>
              </a:rPr>
              <a:t>testuser@example.com</a:t>
            </a:r>
            <a:r>
              <a:rPr lang="en-US">
                <a:solidFill>
                  <a:schemeClr val="accent4"/>
                </a:solidFill>
              </a:rPr>
              <a:t>"</a:t>
            </a:r>
            <a:endParaRPr>
              <a:solidFill>
                <a:schemeClr val="accent4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Extract last four digits of credit card number </a:t>
            </a:r>
            <a:r>
              <a:rPr lang="en-US">
                <a:solidFill>
                  <a:schemeClr val="accent4"/>
                </a:solidFill>
              </a:rPr>
              <a:t>card = "5123456789012345"</a:t>
            </a:r>
            <a:endParaRPr>
              <a:solidFill>
                <a:schemeClr val="accent4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/>
              <a:t>Drop first and last character </a:t>
            </a:r>
            <a:r>
              <a:rPr lang="en-US">
                <a:solidFill>
                  <a:schemeClr val="accent4"/>
                </a:solidFill>
              </a:rPr>
              <a:t>s = "[hello]"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Answer Key</a:t>
            </a:r>
            <a:endParaRPr/>
          </a:p>
        </p:txBody>
      </p:sp>
      <p:sp>
        <p:nvSpPr>
          <p:cNvPr id="278" name="Google Shape;278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AutoNum type="arabicPeriod"/>
            </a:pPr>
            <a:r>
              <a:rPr lang="en-US">
                <a:solidFill>
                  <a:schemeClr val="accent5"/>
                </a:solidFill>
              </a:rPr>
              <a:t>file[-3:]</a:t>
            </a:r>
            <a:endParaRPr>
              <a:solidFill>
                <a:schemeClr val="accent5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AutoNum type="arabicPeriod"/>
            </a:pPr>
            <a:r>
              <a:rPr lang="en-US">
                <a:solidFill>
                  <a:schemeClr val="accent5"/>
                </a:solidFill>
              </a:rPr>
              <a:t>file[:-4</a:t>
            </a:r>
            <a:endParaRPr>
              <a:solidFill>
                <a:schemeClr val="accent5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AutoNum type="arabicPeriod"/>
            </a:pPr>
            <a:r>
              <a:rPr lang="en-US">
                <a:solidFill>
                  <a:schemeClr val="accent5"/>
                </a:solidFill>
              </a:rPr>
              <a:t>date[:4]</a:t>
            </a:r>
            <a:endParaRPr>
              <a:solidFill>
                <a:schemeClr val="accent5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AutoNum type="arabicPeriod"/>
            </a:pPr>
            <a:r>
              <a:rPr lang="en-US">
                <a:solidFill>
                  <a:schemeClr val="accent5"/>
                </a:solidFill>
              </a:rPr>
              <a:t>email[:8] =&gt; email[:email.find(‘@’)]</a:t>
            </a:r>
            <a:endParaRPr>
              <a:solidFill>
                <a:schemeClr val="accent5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AutoNum type="arabicPeriod"/>
            </a:pPr>
            <a:r>
              <a:rPr lang="en-US">
                <a:solidFill>
                  <a:schemeClr val="accent5"/>
                </a:solidFill>
              </a:rPr>
              <a:t>card[-4:]</a:t>
            </a:r>
            <a:endParaRPr>
              <a:solidFill>
                <a:schemeClr val="accent5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AutoNum type="arabicPeriod"/>
            </a:pPr>
            <a:r>
              <a:rPr lang="en-US">
                <a:solidFill>
                  <a:schemeClr val="accent5"/>
                </a:solidFill>
              </a:rPr>
              <a:t>s[1:-1]</a:t>
            </a:r>
            <a:endParaRPr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Coding Exercises with Strings</a:t>
            </a:r>
            <a:endParaRPr/>
          </a:p>
        </p:txBody>
      </p:sp>
      <p:sp>
        <p:nvSpPr>
          <p:cNvPr id="284" name="Google Shape;284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4"/>
                </a:solidFill>
              </a:rPr>
              <a:t>Download Zed.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https://zed.dev/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4"/>
                </a:solidFill>
              </a:rPr>
              <a:t>Don’t authenticate/sign-in yet.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4"/>
                </a:solidFill>
              </a:rPr>
              <a:t>Now open up </a:t>
            </a:r>
            <a:r>
              <a:rPr lang="en-US">
                <a:solidFill>
                  <a:srgbClr val="33BD80"/>
                </a:solidFill>
              </a:rPr>
              <a:t>string1.py </a:t>
            </a:r>
            <a:r>
              <a:rPr lang="en-US">
                <a:solidFill>
                  <a:schemeClr val="accent4"/>
                </a:solidFill>
              </a:rPr>
              <a:t>in Zed </a:t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4"/>
                </a:solidFill>
              </a:rPr>
              <a:t>Solve problem </a:t>
            </a:r>
            <a:r>
              <a:rPr lang="en-US">
                <a:solidFill>
                  <a:srgbClr val="33BD80"/>
                </a:solidFill>
              </a:rPr>
              <a:t>B. both_ends </a:t>
            </a:r>
            <a:endParaRPr>
              <a:solidFill>
                <a:srgbClr val="33BD8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4"/>
                </a:solidFill>
              </a:rPr>
              <a:t>Solve problem </a:t>
            </a:r>
            <a:r>
              <a:rPr lang="en-US">
                <a:solidFill>
                  <a:srgbClr val="33BD80"/>
                </a:solidFill>
              </a:rPr>
              <a:t>C. fix_start</a:t>
            </a:r>
            <a:endParaRPr>
              <a:solidFill>
                <a:srgbClr val="33BD8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accent4"/>
                </a:solidFill>
              </a:rPr>
              <a:t>Solve problem </a:t>
            </a:r>
            <a:r>
              <a:rPr lang="en-US">
                <a:solidFill>
                  <a:srgbClr val="33BD80"/>
                </a:solidFill>
              </a:rPr>
              <a:t>D. mixup</a:t>
            </a:r>
            <a:endParaRPr>
              <a:solidFill>
                <a:srgbClr val="33BD8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4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BD8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End of Part One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