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5143500" cx="9144000"/>
  <p:notesSz cx="6858000" cy="9144000"/>
  <p:embeddedFontLst>
    <p:embeddedFont>
      <p:font typeface="Poppins"/>
      <p:regular r:id="rId63"/>
      <p:bold r:id="rId64"/>
      <p:italic r:id="rId65"/>
      <p:boldItalic r:id="rId66"/>
    </p:embeddedFont>
    <p:embeddedFont>
      <p:font typeface="Helvetica Neue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HelveticaNeue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Poppins-bold.fntdata"/><Relationship Id="rId63" Type="http://schemas.openxmlformats.org/officeDocument/2006/relationships/font" Target="fonts/Poppins-regular.fntdata"/><Relationship Id="rId22" Type="http://schemas.openxmlformats.org/officeDocument/2006/relationships/slide" Target="slides/slide17.xml"/><Relationship Id="rId66" Type="http://schemas.openxmlformats.org/officeDocument/2006/relationships/font" Target="fonts/Poppins-boldItalic.fntdata"/><Relationship Id="rId21" Type="http://schemas.openxmlformats.org/officeDocument/2006/relationships/slide" Target="slides/slide16.xml"/><Relationship Id="rId65" Type="http://schemas.openxmlformats.org/officeDocument/2006/relationships/font" Target="fonts/Poppins-italic.fntdata"/><Relationship Id="rId24" Type="http://schemas.openxmlformats.org/officeDocument/2006/relationships/slide" Target="slides/slide19.xml"/><Relationship Id="rId68" Type="http://schemas.openxmlformats.org/officeDocument/2006/relationships/font" Target="fonts/HelveticaNeue-bold.fntdata"/><Relationship Id="rId23" Type="http://schemas.openxmlformats.org/officeDocument/2006/relationships/slide" Target="slides/slide18.xml"/><Relationship Id="rId67" Type="http://schemas.openxmlformats.org/officeDocument/2006/relationships/font" Target="fonts/HelveticaNeue-regular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HelveticaNeue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202ec328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202ec328c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202ec328c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202ec328c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c1027bb28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c1027bb28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lide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lide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lide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lide_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c1027bb28_0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c1027bb28_0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slide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slide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slide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slide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c1027bb28_0_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c1027bb28_0_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slide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slide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slide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slide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c1027bb28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c1027bb28_0_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slide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slide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c1027bb28_0_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c1027bb28_0_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slide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slide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c1027bb28_0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c1027bb28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slide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slide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slide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slide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c1027bb28_0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c1027bb28_0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cf4987b3c_1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cf4987b3c_1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slide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slide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slide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slide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slide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slide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c1027bb28_0_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c1027bb28_0_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c1027bb28_0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bc1027bb28_0_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c1027bb28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c1027bb28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slide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slide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c1027bb28_0_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bc1027bb28_0_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slide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slide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slide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slide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c1027bb28_0_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bc1027bb28_0_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slide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slide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c1027bb28_0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bc1027bb28_0_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slide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slide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c1027bb28_0_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c1027bb28_0_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c1027bb28_0_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bc1027bb28_0_1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slide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slide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slide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slide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slide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slide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slide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slide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slide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slide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b10197fe5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cb10197fe5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slide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slide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bcf4987b3c_2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bcf4987b3c_2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cf4987b3c_2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bcf4987b3c_2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cf4987b3c_2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bcf4987b3c_2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slide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slide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bc1027bb28_0_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bc1027bb28_0_1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cf4987b3c_2_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bcf4987b3c_2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cf4987b3c_2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bcf4987b3c_2_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cf4987b3c_2_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bcf4987b3c_2_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cf4987b3c_2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bcf4987b3c_2_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cf4987b3c_2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bcf4987b3c_2_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08be09029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a08be09029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"/>
              <a:buNone/>
              <a:defRPr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877" y="4306150"/>
            <a:ext cx="952271" cy="2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-11200" y="0"/>
            <a:ext cx="9144000" cy="5143500"/>
          </a:xfrm>
          <a:prstGeom prst="rect">
            <a:avLst/>
          </a:prstGeom>
          <a:solidFill>
            <a:srgbClr val="49A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BD80"/>
              </a:solidFill>
            </a:endParaRPr>
          </a:p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oppins"/>
              <a:buNone/>
              <a:defRPr sz="4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95877" y="4306150"/>
            <a:ext cx="952271" cy="2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://list1.py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4.png"/><Relationship Id="rId4" Type="http://schemas.openxmlformats.org/officeDocument/2006/relationships/image" Target="../media/image3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Sorting, Tuples, and List Comprehensions</a:t>
            </a:r>
            <a:endParaRPr/>
          </a:p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January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Curriculum Checkpoint</a:t>
            </a:r>
            <a:endParaRPr/>
          </a:p>
        </p:txBody>
      </p:sp>
      <p:pic>
        <p:nvPicPr>
          <p:cNvPr id="72" name="Google Shape;72;p16" title="Screenshot 2026-01-29 at 12.53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5250" y="591575"/>
            <a:ext cx="4686300" cy="44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168200" y="1294225"/>
            <a:ext cx="37329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We are at the </a:t>
            </a:r>
            <a:r>
              <a:rPr lang="en-US" sz="1800">
                <a:solidFill>
                  <a:schemeClr val="accent4"/>
                </a:solidFill>
              </a:rPr>
              <a:t>Halfway</a:t>
            </a:r>
            <a:r>
              <a:rPr lang="en-US" sz="1800">
                <a:solidFill>
                  <a:schemeClr val="accent4"/>
                </a:solidFill>
              </a:rPr>
              <a:t> Mark.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Each topic takes about 2 sessions. 1 session a week.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Estimate end of March to complete this introductory course.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</a:rPr>
              <a:t>Then the fun begins.</a:t>
            </a:r>
            <a:endParaRPr i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</a:rPr>
              <a:t>Optional </a:t>
            </a:r>
            <a:r>
              <a:rPr lang="en-US" sz="1800">
                <a:solidFill>
                  <a:schemeClr val="dk1"/>
                </a:solidFill>
              </a:rPr>
              <a:t>Online Certification Exam that can be taken at any time and unlimited times (once a month max).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Objective of Learning Python for AI Practitioners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You are </a:t>
            </a:r>
            <a:r>
              <a:rPr lang="en-US" sz="2100">
                <a:solidFill>
                  <a:srgbClr val="FF0000"/>
                </a:solidFill>
              </a:rPr>
              <a:t>not </a:t>
            </a:r>
            <a:r>
              <a:rPr lang="en-US" sz="2100"/>
              <a:t>training to become software engineers.</a:t>
            </a:r>
            <a:endParaRPr sz="21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US" sz="1700"/>
              <a:t>You do not need to memorize advanced algorithms that takes years of training. The AI can help take care of that.</a:t>
            </a:r>
            <a:endParaRPr sz="17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You are training to become </a:t>
            </a:r>
            <a:r>
              <a:rPr lang="en-US" sz="2100">
                <a:solidFill>
                  <a:schemeClr val="accent5"/>
                </a:solidFill>
              </a:rPr>
              <a:t>business-technical hybrid</a:t>
            </a:r>
            <a:r>
              <a:rPr lang="en-US" sz="2100"/>
              <a:t> </a:t>
            </a:r>
            <a:r>
              <a:rPr lang="en-US" sz="2100"/>
              <a:t>unicorns.</a:t>
            </a:r>
            <a:endParaRPr sz="21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US" sz="1700"/>
              <a:t>Keep your business skills relevant.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US" sz="1700"/>
              <a:t>Python knowledge will help with:</a:t>
            </a:r>
            <a:endParaRPr sz="1700"/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-US" sz="1700"/>
              <a:t>Advanced experimentation with AI and machine learning</a:t>
            </a:r>
            <a:endParaRPr sz="1700"/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-US" sz="1700"/>
              <a:t>Building AI agents using Python and vibe-coding with clear understanding of what you’re building.</a:t>
            </a:r>
            <a:endParaRPr sz="1700"/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-US" sz="1700"/>
              <a:t>Intuition of how software works and other technical topics</a:t>
            </a:r>
            <a:endParaRPr sz="1700"/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-US" sz="1700"/>
              <a:t>Debugging and managing coding agents made easier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Sorting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Sorting Lists with sorted()</a:t>
            </a:r>
            <a:endParaRPr sz="2520"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1943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• The simplest way to sort values in Python is to use the </a:t>
            </a:r>
            <a:r>
              <a:rPr lang="en-US" sz="1500">
                <a:solidFill>
                  <a:schemeClr val="accent5"/>
                </a:solidFill>
              </a:rPr>
              <a:t>sorted() </a:t>
            </a:r>
            <a:r>
              <a:rPr lang="en-US" sz="1500"/>
              <a:t>function, which takes a collection of items and returns a new list in sorted order.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/>
              <a:t> </a:t>
            </a:r>
            <a:r>
              <a:rPr lang="en-US" sz="1200"/>
              <a:t> ◦ Returns a new list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/>
              <a:t>  ◦ </a:t>
            </a:r>
            <a:r>
              <a:rPr lang="en-US" sz="1200"/>
              <a:t>Does not modify the original collection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/>
              <a:t>• Because </a:t>
            </a:r>
            <a:r>
              <a:rPr lang="en-US" sz="1500">
                <a:solidFill>
                  <a:schemeClr val="accent5"/>
                </a:solidFill>
              </a:rPr>
              <a:t>sorted() </a:t>
            </a:r>
            <a:r>
              <a:rPr lang="en-US" sz="1500"/>
              <a:t>creates a new list, you can safely sort data for display or calculation without changing the original list that might be needed later.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/>
              <a:t>  </a:t>
            </a:r>
            <a:r>
              <a:rPr lang="en-US" sz="1200"/>
              <a:t>◦ Useful for debugging and reporting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/>
              <a:t>  ◦ Avoids unintended side effects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/>
              <a:t>• Even though </a:t>
            </a:r>
            <a:r>
              <a:rPr lang="en-US" sz="1500">
                <a:solidFill>
                  <a:schemeClr val="accent5"/>
                </a:solidFill>
              </a:rPr>
              <a:t>sorted()</a:t>
            </a:r>
            <a:r>
              <a:rPr lang="en-US" sz="1500"/>
              <a:t> is most commonly used with lists, it can accept any </a:t>
            </a:r>
            <a:r>
              <a:rPr lang="en-US" sz="1500">
                <a:solidFill>
                  <a:schemeClr val="accent4"/>
                </a:solidFill>
              </a:rPr>
              <a:t>iterable</a:t>
            </a:r>
            <a:r>
              <a:rPr lang="en-US" sz="1500"/>
              <a:t>, meaning many “things you can loop over” can be sorted into a list.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/>
              <a:t>  ◦</a:t>
            </a:r>
            <a:r>
              <a:rPr lang="en-US" sz="1200">
                <a:solidFill>
                  <a:schemeClr val="accent4"/>
                </a:solidFill>
              </a:rPr>
              <a:t> Iterable </a:t>
            </a:r>
            <a:r>
              <a:rPr lang="en-US" sz="1200"/>
              <a:t>examples:</a:t>
            </a:r>
            <a:r>
              <a:rPr lang="en-US" sz="1200">
                <a:solidFill>
                  <a:srgbClr val="FF00FF"/>
                </a:solidFill>
              </a:rPr>
              <a:t> lists, tuples, strings</a:t>
            </a:r>
            <a:endParaRPr sz="12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/>
              <a:t>  ◦ </a:t>
            </a:r>
            <a:r>
              <a:rPr lang="en-US" sz="1200">
                <a:solidFill>
                  <a:schemeClr val="accent4"/>
                </a:solidFill>
              </a:rPr>
              <a:t>Result is always a list</a:t>
            </a:r>
            <a:endParaRPr sz="12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Basic </a:t>
            </a:r>
            <a:r>
              <a:rPr lang="en-US" sz="2520">
                <a:solidFill>
                  <a:schemeClr val="accent5"/>
                </a:solidFill>
              </a:rPr>
              <a:t>sorted()</a:t>
            </a:r>
            <a:r>
              <a:rPr lang="en-US" sz="2520"/>
              <a:t> returns a new list</a:t>
            </a:r>
            <a:endParaRPr sz="2520"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a = [5, 1, 4, 3]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print(sorted(a))  ## [1, 3, 4, 5]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print(a)  ## [5, 1, 4, 3]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Sorting in Reverse and Understanding Case Sensitivity</a:t>
            </a:r>
            <a:endParaRPr sz="2520"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• The </a:t>
            </a:r>
            <a:r>
              <a:rPr lang="en-US" sz="1600">
                <a:solidFill>
                  <a:schemeClr val="accent5"/>
                </a:solidFill>
              </a:rPr>
              <a:t>sorted() </a:t>
            </a:r>
            <a:r>
              <a:rPr lang="en-US" sz="1600"/>
              <a:t>function supports </a:t>
            </a:r>
            <a:r>
              <a:rPr lang="en-US" sz="1600">
                <a:solidFill>
                  <a:schemeClr val="accent4"/>
                </a:solidFill>
              </a:rPr>
              <a:t>optional arguments </a:t>
            </a:r>
            <a:r>
              <a:rPr lang="en-US" sz="1600"/>
              <a:t>that change how sorting behaves, allowing you to control details like whether the ordering is ascending or descending.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</a:t>
            </a:r>
            <a:r>
              <a:rPr lang="en-US" sz="1400"/>
              <a:t> ◦ Optional arguments customize behavior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If you pass </a:t>
            </a:r>
            <a:r>
              <a:rPr lang="en-US" sz="1600">
                <a:solidFill>
                  <a:schemeClr val="accent5"/>
                </a:solidFill>
              </a:rPr>
              <a:t>reverse=True</a:t>
            </a:r>
            <a:r>
              <a:rPr lang="en-US" sz="1600"/>
              <a:t> to </a:t>
            </a:r>
            <a:r>
              <a:rPr lang="en-US" sz="1600">
                <a:solidFill>
                  <a:schemeClr val="accent5"/>
                </a:solidFill>
              </a:rPr>
              <a:t>sorted()</a:t>
            </a:r>
            <a:r>
              <a:rPr lang="en-US" sz="1600"/>
              <a:t>, Python sorts the values in the opposite order, which is a quick way to get a descending sort without extra steps.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Example: </a:t>
            </a:r>
            <a:r>
              <a:rPr lang="en-US" sz="1400">
                <a:solidFill>
                  <a:schemeClr val="accent5"/>
                </a:solidFill>
              </a:rPr>
              <a:t>sorted(items, reverse=True)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When sorting strings with default settings, Python compares characters based on their underlying character codes, so </a:t>
            </a:r>
            <a:r>
              <a:rPr lang="en-US" sz="1600">
                <a:solidFill>
                  <a:schemeClr val="accent4"/>
                </a:solidFill>
              </a:rPr>
              <a:t>uppercase letters come before lowercase letters</a:t>
            </a:r>
            <a:r>
              <a:rPr lang="en-US" sz="1600"/>
              <a:t> in many cases.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/>
              <a:t> </a:t>
            </a:r>
            <a:r>
              <a:rPr lang="en-US" sz="1400"/>
              <a:t> ◦ This is why 'BB' can appear before 'aa'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</a:t>
            </a:r>
            <a:r>
              <a:rPr lang="en-US" sz="2520">
                <a:solidFill>
                  <a:schemeClr val="accent5"/>
                </a:solidFill>
              </a:rPr>
              <a:t>reverse=True</a:t>
            </a:r>
            <a:r>
              <a:rPr lang="en-US" sz="2520"/>
              <a:t> and default string ordering</a:t>
            </a:r>
            <a:endParaRPr sz="2520"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r>
              <a:rPr lang="en-US">
                <a:solidFill>
                  <a:schemeClr val="accent5"/>
                </a:solidFill>
              </a:rPr>
              <a:t>strs = ['aa', 'BB', 'zz', 'CC']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print(sorted(strs))  ## ['BB', 'CC', 'aa', 'zz'] (case sensitive)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print(sorted(strs, reverse=True))   ## ['zz', 'aa', 'CC', 'BB']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Screenshot 2026-01-28 at 9.29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22" y="268875"/>
            <a:ext cx="8819174" cy="2651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3" title="Screenshot 2026-01-28 at 9.30.2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7900" y="3004676"/>
            <a:ext cx="5475747" cy="1834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Custom Sorting with </a:t>
            </a:r>
            <a:r>
              <a:rPr lang="en-US" sz="2520">
                <a:solidFill>
                  <a:schemeClr val="accent5"/>
                </a:solidFill>
              </a:rPr>
              <a:t>key=</a:t>
            </a:r>
            <a:r>
              <a:rPr lang="en-US" sz="2520"/>
              <a:t> (Using a “Proxy” Value)</a:t>
            </a:r>
            <a:endParaRPr sz="2520"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• For more complex sorting, </a:t>
            </a:r>
            <a:r>
              <a:rPr lang="en-US" sz="1600">
                <a:solidFill>
                  <a:schemeClr val="accent5"/>
                </a:solidFill>
              </a:rPr>
              <a:t>sorted() </a:t>
            </a:r>
            <a:r>
              <a:rPr lang="en-US" sz="1600"/>
              <a:t>accepts a </a:t>
            </a:r>
            <a:r>
              <a:rPr lang="en-US" sz="1600">
                <a:solidFill>
                  <a:schemeClr val="accent5"/>
                </a:solidFill>
              </a:rPr>
              <a:t>key= </a:t>
            </a:r>
            <a:r>
              <a:rPr lang="en-US" sz="1600">
                <a:solidFill>
                  <a:schemeClr val="accent4"/>
                </a:solidFill>
              </a:rPr>
              <a:t>argument </a:t>
            </a:r>
            <a:r>
              <a:rPr lang="en-US" sz="1600"/>
              <a:t>that names a </a:t>
            </a:r>
            <a:r>
              <a:rPr lang="en-US" sz="1600">
                <a:solidFill>
                  <a:schemeClr val="accent4"/>
                </a:solidFill>
              </a:rPr>
              <a:t>function used to transform each item into a comparison value</a:t>
            </a:r>
            <a:r>
              <a:rPr lang="en-US" sz="1600"/>
              <a:t> before ordering.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The </a:t>
            </a:r>
            <a:r>
              <a:rPr lang="en-US" sz="1600">
                <a:solidFill>
                  <a:schemeClr val="accent5"/>
                </a:solidFill>
              </a:rPr>
              <a:t>key </a:t>
            </a:r>
            <a:r>
              <a:rPr lang="en-US" sz="1600"/>
              <a:t>function runs once per element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The </a:t>
            </a:r>
            <a:r>
              <a:rPr lang="en-US" sz="1600">
                <a:solidFill>
                  <a:schemeClr val="accent5"/>
                </a:solidFill>
              </a:rPr>
              <a:t>key</a:t>
            </a:r>
            <a:r>
              <a:rPr lang="en-US" sz="1600"/>
              <a:t> function must </a:t>
            </a:r>
            <a:r>
              <a:rPr lang="en-US" sz="1600">
                <a:solidFill>
                  <a:schemeClr val="accent4"/>
                </a:solidFill>
              </a:rPr>
              <a:t>take exactly one value and return exactly one value</a:t>
            </a:r>
            <a:r>
              <a:rPr lang="en-US" sz="1600"/>
              <a:t>, and Python sorts by those returned values rather than directly comparing the original objects.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Returned value is a “proxy” for sorting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A common and easy key function is </a:t>
            </a:r>
            <a:r>
              <a:rPr lang="en-US" sz="1600">
                <a:solidFill>
                  <a:schemeClr val="accent5"/>
                </a:solidFill>
              </a:rPr>
              <a:t>len</a:t>
            </a:r>
            <a:r>
              <a:rPr lang="en-US" sz="1600"/>
              <a:t>, which sorts strings by their length, producing an ordering from shortest string to longest string without writing custom code.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</a:t>
            </a:r>
            <a:r>
              <a:rPr lang="en-US" sz="1600">
                <a:solidFill>
                  <a:schemeClr val="accent5"/>
                </a:solidFill>
              </a:rPr>
              <a:t>len </a:t>
            </a:r>
            <a:r>
              <a:rPr lang="en-US" sz="1600"/>
              <a:t>is a built-in function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/>
              <a:t>  ◦ Often used for text lists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Sorting strings by length with </a:t>
            </a:r>
            <a:r>
              <a:rPr lang="en-US" sz="2520">
                <a:solidFill>
                  <a:schemeClr val="accent5"/>
                </a:solidFill>
              </a:rPr>
              <a:t>key=len</a:t>
            </a:r>
            <a:endParaRPr sz="2520">
              <a:solidFill>
                <a:schemeClr val="accent5"/>
              </a:solidFill>
            </a:endParaRPr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r>
              <a:rPr lang="en-US">
                <a:solidFill>
                  <a:schemeClr val="accent5"/>
                </a:solidFill>
              </a:rPr>
              <a:t>strs = ['ccc', 'aaaa', 'd', 'bb']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print(sorted(strs, key=len))  ## ['d', 'bb', 'ccc', 'aaaa']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Screenshot 2026-01-28 at 10.06.51 PM.png"/>
          <p:cNvPicPr preferRelativeResize="0"/>
          <p:nvPr/>
        </p:nvPicPr>
        <p:blipFill rotWithShape="1">
          <a:blip r:embed="rId3">
            <a:alphaModFix/>
          </a:blip>
          <a:srcRect b="20961" l="0" r="0" t="0"/>
          <a:stretch/>
        </p:blipFill>
        <p:spPr>
          <a:xfrm>
            <a:off x="223325" y="354700"/>
            <a:ext cx="7001525" cy="215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6" title="Screenshot 2026-01-28 at 10.07.4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6800" y="2628750"/>
            <a:ext cx="5965675" cy="237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Case-Insensitive Sorting with </a:t>
            </a:r>
            <a:r>
              <a:rPr lang="en-US" sz="2520">
                <a:solidFill>
                  <a:schemeClr val="accent5"/>
                </a:solidFill>
              </a:rPr>
              <a:t>key=str.lower</a:t>
            </a:r>
            <a:endParaRPr sz="2520">
              <a:solidFill>
                <a:schemeClr val="accent5"/>
              </a:solidFill>
            </a:endParaRPr>
          </a:p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• If you want sorting to treat uppercase and lowercase letters the same, you can use a key function that converts each string to a consistent form before comparison.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</a:t>
            </a:r>
            <a:r>
              <a:rPr lang="en-US" sz="1400"/>
              <a:t>◦ Common approach: convert to lowercase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Using </a:t>
            </a:r>
            <a:r>
              <a:rPr lang="en-US" sz="1600">
                <a:solidFill>
                  <a:schemeClr val="accent5"/>
                </a:solidFill>
              </a:rPr>
              <a:t>key=str.lower </a:t>
            </a:r>
            <a:r>
              <a:rPr lang="en-US" sz="1600"/>
              <a:t>tells </a:t>
            </a:r>
            <a:r>
              <a:rPr lang="en-US" sz="1600">
                <a:solidFill>
                  <a:schemeClr val="accent5"/>
                </a:solidFill>
              </a:rPr>
              <a:t>sorted() </a:t>
            </a:r>
            <a:r>
              <a:rPr lang="en-US" sz="1600"/>
              <a:t>to compare strings using each string’s lowercase version, while still returning the original strings in their original capitalization.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Comparison uses lowercase “proxy” values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Returned list keeps original strings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This approach is often easier than manually converting strings and then trying to map results back, because </a:t>
            </a:r>
            <a:r>
              <a:rPr lang="en-US" sz="1600">
                <a:solidFill>
                  <a:schemeClr val="accent5"/>
                </a:solidFill>
              </a:rPr>
              <a:t>sorted() </a:t>
            </a:r>
            <a:r>
              <a:rPr lang="en-US" sz="1600"/>
              <a:t>handles the transformation and ordering in one step.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</a:t>
            </a:r>
            <a:r>
              <a:rPr lang="en-US" sz="1400"/>
              <a:t> ◦ One-step customization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/>
              <a:t>  ◦ Keeps original data intact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Case-insensitive sort using </a:t>
            </a:r>
            <a:r>
              <a:rPr lang="en-US" sz="2520">
                <a:solidFill>
                  <a:schemeClr val="accent5"/>
                </a:solidFill>
              </a:rPr>
              <a:t>str.lower</a:t>
            </a:r>
            <a:endParaRPr sz="2520">
              <a:solidFill>
                <a:schemeClr val="accent5"/>
              </a:solidFill>
            </a:endParaRPr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</a:t>
            </a:r>
            <a:r>
              <a:rPr lang="en-US">
                <a:solidFill>
                  <a:schemeClr val="accent5"/>
                </a:solidFill>
              </a:rPr>
              <a:t>## "key" argument specifying str.lower function to use for sorting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print(sorted(strs, key=str.lower))  ## ['aa', 'BB', 'CC', 'zz']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9" title="Screenshot 2026-01-28 at 9.31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25" y="445025"/>
            <a:ext cx="8852476" cy="260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9" title="Screenshot 2026-01-28 at 9.32.2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5525" y="2924500"/>
            <a:ext cx="4888725" cy="201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Writing Your Own </a:t>
            </a:r>
            <a:r>
              <a:rPr lang="en-US" sz="2520">
                <a:solidFill>
                  <a:schemeClr val="accent5"/>
                </a:solidFill>
              </a:rPr>
              <a:t>key</a:t>
            </a:r>
            <a:r>
              <a:rPr lang="en-US" sz="2520"/>
              <a:t> Function for Custom Rules</a:t>
            </a:r>
            <a:endParaRPr sz="2520"/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1042336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• When built-in </a:t>
            </a:r>
            <a:r>
              <a:rPr lang="en-US" sz="1600">
                <a:solidFill>
                  <a:schemeClr val="accent5"/>
                </a:solidFill>
              </a:rPr>
              <a:t>key </a:t>
            </a:r>
            <a:r>
              <a:rPr lang="en-US" sz="1600"/>
              <a:t>functions are not enough, you can define your own function and pass it with </a:t>
            </a:r>
            <a:r>
              <a:rPr lang="en-US" sz="1600">
                <a:solidFill>
                  <a:schemeClr val="accent5"/>
                </a:solidFill>
              </a:rPr>
              <a:t>key= </a:t>
            </a:r>
            <a:r>
              <a:rPr lang="en-US" sz="1600"/>
              <a:t>so Python sorts according to the rule you encode.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Your function must take one argument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Your function must return one value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A practical example is sorting strings by their last character, where the key function returns </a:t>
            </a:r>
            <a:r>
              <a:rPr lang="en-US" sz="1600">
                <a:solidFill>
                  <a:schemeClr val="accent5"/>
                </a:solidFill>
              </a:rPr>
              <a:t>s[-1]</a:t>
            </a:r>
            <a:r>
              <a:rPr lang="en-US" sz="1600"/>
              <a:t>, and the sorting compares those last-letter proxy values.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</a:t>
            </a:r>
            <a:r>
              <a:rPr lang="en-US" sz="1400">
                <a:solidFill>
                  <a:schemeClr val="accent5"/>
                </a:solidFill>
              </a:rPr>
              <a:t>s[-1]</a:t>
            </a:r>
            <a:r>
              <a:rPr lang="en-US" sz="1400"/>
              <a:t> means “last character”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Works well for consistent string formats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This pattern is widely useful because it</a:t>
            </a:r>
            <a:r>
              <a:rPr lang="en-US" sz="1600">
                <a:solidFill>
                  <a:schemeClr val="accent4"/>
                </a:solidFill>
              </a:rPr>
              <a:t> separates </a:t>
            </a:r>
            <a:r>
              <a:rPr lang="en-US" sz="1600"/>
              <a:t>“how to measure an item for sorting” from the sorting operation itself, keeping your code easier to read and test.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Clear separation of concerns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/>
              <a:t>  ◦ Reusable key functions</a:t>
            </a:r>
            <a:endParaRPr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 Next Session Here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Custom </a:t>
            </a:r>
            <a:r>
              <a:rPr lang="en-US" sz="2520">
                <a:solidFill>
                  <a:schemeClr val="accent5"/>
                </a:solidFill>
              </a:rPr>
              <a:t>key</a:t>
            </a:r>
            <a:r>
              <a:rPr lang="en-US" sz="2520"/>
              <a:t> function to sort by last letter</a:t>
            </a:r>
            <a:endParaRPr sz="2520"/>
          </a:p>
        </p:txBody>
      </p:sp>
      <p:sp>
        <p:nvSpPr>
          <p:cNvPr id="168" name="Google Shape;16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5"/>
                </a:solidFill>
              </a:rPr>
              <a:t> </a:t>
            </a:r>
            <a:r>
              <a:rPr lang="en-US" sz="1600">
                <a:solidFill>
                  <a:schemeClr val="accent4"/>
                </a:solidFill>
              </a:rPr>
              <a:t> </a:t>
            </a:r>
            <a:r>
              <a:rPr lang="en-US" sz="1600">
                <a:solidFill>
                  <a:schemeClr val="accent4"/>
                </a:solidFill>
              </a:rPr>
              <a:t>## Say we have a list of strings we want to sort by the last letter of the string.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5"/>
                </a:solidFill>
              </a:rPr>
              <a:t>  strs = ['xc', 'zb', 'yd' ,'wa']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</a:rPr>
              <a:t>  ## Write a little function that takes a string, and returns its last letter.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</a:rPr>
              <a:t>  ## This will be the key function (takes in 1 value, returns 1 value).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5"/>
                </a:solidFill>
              </a:rPr>
              <a:t>  def MyFn(s):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5"/>
                </a:solidFill>
              </a:rPr>
              <a:t>    return s[-1]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</a:rPr>
              <a:t>  ## Now pass key=MyFn to sorted() to sort by the last letter: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chemeClr val="accent5"/>
                </a:solidFill>
              </a:rPr>
              <a:t>  print(sorted(strs, key=MyFn))  ## ['wa', 'zb', 'xc', 'yd']</a:t>
            </a:r>
            <a:endParaRPr sz="16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3" title="Screenshot 2026-01-28 at 9.33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00" y="75422"/>
            <a:ext cx="5552226" cy="285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3" title="Screenshot 2026-01-28 at 9.36.1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2450" y="3092246"/>
            <a:ext cx="4039305" cy="1855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3" title="Screenshot 2026-01-28 at 9.39.1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2184" y="210200"/>
            <a:ext cx="5041815" cy="272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3"/>
          <p:cNvSpPr/>
          <p:nvPr/>
        </p:nvSpPr>
        <p:spPr>
          <a:xfrm>
            <a:off x="6667500" y="4119250"/>
            <a:ext cx="1509300" cy="408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3"/>
          <p:cNvSpPr txBox="1"/>
          <p:nvPr/>
        </p:nvSpPr>
        <p:spPr>
          <a:xfrm>
            <a:off x="643250" y="3789286"/>
            <a:ext cx="36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E7CC3"/>
                </a:solidFill>
              </a:rPr>
              <a:t>lambda </a:t>
            </a:r>
            <a:r>
              <a:rPr lang="en-US" sz="1800">
                <a:solidFill>
                  <a:srgbClr val="FF0000"/>
                </a:solidFill>
              </a:rPr>
              <a:t>is a keyword for a nameless, single-expression function used in sort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178" name="Google Shape;178;p33"/>
          <p:cNvCxnSpPr>
            <a:stCxn id="177" idx="3"/>
            <a:endCxn id="176" idx="1"/>
          </p:cNvCxnSpPr>
          <p:nvPr/>
        </p:nvCxnSpPr>
        <p:spPr>
          <a:xfrm>
            <a:off x="4329650" y="4297186"/>
            <a:ext cx="2337900" cy="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33"/>
          <p:cNvCxnSpPr>
            <a:endCxn id="176" idx="2"/>
          </p:cNvCxnSpPr>
          <p:nvPr/>
        </p:nvCxnSpPr>
        <p:spPr>
          <a:xfrm>
            <a:off x="3810150" y="4317250"/>
            <a:ext cx="3612000" cy="210300"/>
          </a:xfrm>
          <a:prstGeom prst="bentConnector4">
            <a:avLst>
              <a:gd fmla="val 21914" name="adj1"/>
              <a:gd fmla="val 32347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Sorting by Multiple Fields with </a:t>
            </a:r>
            <a:r>
              <a:rPr lang="en-US" sz="2520">
                <a:solidFill>
                  <a:schemeClr val="accent5"/>
                </a:solidFill>
              </a:rPr>
              <a:t>itemgetter </a:t>
            </a:r>
            <a:r>
              <a:rPr lang="en-US" sz="2520"/>
              <a:t>and </a:t>
            </a:r>
            <a:r>
              <a:rPr lang="en-US" sz="2520">
                <a:solidFill>
                  <a:schemeClr val="accent5"/>
                </a:solidFill>
              </a:rPr>
              <a:t>attrgetter</a:t>
            </a:r>
            <a:endParaRPr sz="2520">
              <a:solidFill>
                <a:schemeClr val="accent5"/>
              </a:solidFill>
            </a:endParaRPr>
          </a:p>
        </p:txBody>
      </p:sp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• When each item contains multiple parts, such as a person’s first name, last name, and score, you often want sorting to consider more than one field in order.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Example: sort by last name, then first name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The operator module provides </a:t>
            </a:r>
            <a:r>
              <a:rPr lang="en-US" sz="1600">
                <a:solidFill>
                  <a:schemeClr val="accent5"/>
                </a:solidFill>
              </a:rPr>
              <a:t>itemgetter </a:t>
            </a:r>
            <a:r>
              <a:rPr lang="en-US" sz="1600"/>
              <a:t>and </a:t>
            </a:r>
            <a:r>
              <a:rPr lang="en-US" sz="1600">
                <a:solidFill>
                  <a:schemeClr val="accent5"/>
                </a:solidFill>
              </a:rPr>
              <a:t>attrgetter</a:t>
            </a:r>
            <a:r>
              <a:rPr lang="en-US" sz="1600"/>
              <a:t> helpers that create </a:t>
            </a:r>
            <a:r>
              <a:rPr lang="en-US" sz="1600">
                <a:solidFill>
                  <a:schemeClr val="accent5"/>
                </a:solidFill>
              </a:rPr>
              <a:t>key</a:t>
            </a:r>
            <a:r>
              <a:rPr lang="en-US" sz="1600"/>
              <a:t> functions for you, making it easy to sort </a:t>
            </a:r>
            <a:r>
              <a:rPr lang="en-US" sz="1600">
                <a:solidFill>
                  <a:schemeClr val="accent4"/>
                </a:solidFill>
              </a:rPr>
              <a:t>tuples </a:t>
            </a:r>
            <a:r>
              <a:rPr lang="en-US" sz="1600"/>
              <a:t>or </a:t>
            </a:r>
            <a:r>
              <a:rPr lang="en-US" sz="1600">
                <a:solidFill>
                  <a:schemeClr val="accent4"/>
                </a:solidFill>
              </a:rPr>
              <a:t>objects</a:t>
            </a:r>
            <a:r>
              <a:rPr lang="en-US" sz="1600"/>
              <a:t> by one or more positions or attributes.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</a:t>
            </a:r>
            <a:r>
              <a:rPr lang="en-US" sz="1600">
                <a:solidFill>
                  <a:schemeClr val="accent5"/>
                </a:solidFill>
              </a:rPr>
              <a:t>itemgetter </a:t>
            </a:r>
            <a:r>
              <a:rPr lang="en-US" sz="1600"/>
              <a:t>is for indexable items like </a:t>
            </a:r>
            <a:r>
              <a:rPr lang="en-US" sz="1600">
                <a:solidFill>
                  <a:schemeClr val="accent4"/>
                </a:solidFill>
              </a:rPr>
              <a:t>tuples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</a:t>
            </a:r>
            <a:r>
              <a:rPr lang="en-US" sz="1600">
                <a:solidFill>
                  <a:schemeClr val="accent5"/>
                </a:solidFill>
              </a:rPr>
              <a:t>attrgetter</a:t>
            </a:r>
            <a:r>
              <a:rPr lang="en-US" sz="1600"/>
              <a:t> is for object attributes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When </a:t>
            </a:r>
            <a:r>
              <a:rPr lang="en-US" sz="1600">
                <a:solidFill>
                  <a:schemeClr val="accent5"/>
                </a:solidFill>
              </a:rPr>
              <a:t>itemgetter </a:t>
            </a:r>
            <a:r>
              <a:rPr lang="en-US" sz="1600"/>
              <a:t>is given multiple indexes, it returns a </a:t>
            </a:r>
            <a:r>
              <a:rPr lang="en-US" sz="1600">
                <a:solidFill>
                  <a:schemeClr val="accent4"/>
                </a:solidFill>
              </a:rPr>
              <a:t>tuple </a:t>
            </a:r>
            <a:r>
              <a:rPr lang="en-US" sz="1600"/>
              <a:t>of those extracted values, and Python naturally compares tuples left-to-right to break ties predictably.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Primary key first, secondary key second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/>
              <a:t>  ◦ </a:t>
            </a:r>
            <a:r>
              <a:rPr lang="en-US" sz="1600">
                <a:solidFill>
                  <a:schemeClr val="accent4"/>
                </a:solidFill>
              </a:rPr>
              <a:t>Tuple </a:t>
            </a:r>
            <a:r>
              <a:rPr lang="en-US" sz="1600"/>
              <a:t>comparison is lexicographic (i.e. alphanumeric order)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Multi-key sorting using </a:t>
            </a:r>
            <a:r>
              <a:rPr lang="en-US" sz="2520">
                <a:solidFill>
                  <a:schemeClr val="accent5"/>
                </a:solidFill>
              </a:rPr>
              <a:t>operator.itemgetter</a:t>
            </a:r>
            <a:endParaRPr sz="2520">
              <a:solidFill>
                <a:schemeClr val="accent5"/>
              </a:solidFill>
            </a:endParaRPr>
          </a:p>
        </p:txBody>
      </p:sp>
      <p:sp>
        <p:nvSpPr>
          <p:cNvPr id="191" name="Google Shape;19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</a:t>
            </a:r>
            <a:r>
              <a:rPr lang="en-US">
                <a:solidFill>
                  <a:schemeClr val="accent5"/>
                </a:solidFill>
              </a:rPr>
              <a:t>from operator import itemgetter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  # (first name, last name, score) tuples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grade = [('Freddy', 'Frank', 3), ('Anil', 'Frank', 100), ('Anil', 'Wang', 24)]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sorted(grade, key=itemgetter(1,0))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  # [('Anil', 'Frank', 100), ('Freddy', 'Frank', 3), ('Anil', 'Wang', 24)]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sorted(grade, key=itemgetter(0,-1))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  #[('Anil', 'Wang', 24), ('Anil', 'Frank', 100), ('Freddy', 'Frank', 3)]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92" name="Google Shape;192;p35"/>
          <p:cNvSpPr txBox="1"/>
          <p:nvPr/>
        </p:nvSpPr>
        <p:spPr>
          <a:xfrm>
            <a:off x="5187550" y="2830575"/>
            <a:ext cx="340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FF"/>
                </a:solidFill>
              </a:rPr>
              <a:t>Last Name, First Name sort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193" name="Google Shape;193;p35"/>
          <p:cNvSpPr txBox="1"/>
          <p:nvPr/>
        </p:nvSpPr>
        <p:spPr>
          <a:xfrm>
            <a:off x="5264650" y="4107175"/>
            <a:ext cx="324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FF"/>
                </a:solidFill>
              </a:rPr>
              <a:t>First Name, Grade sort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194" name="Google Shape;194;p35"/>
          <p:cNvSpPr txBox="1"/>
          <p:nvPr/>
        </p:nvSpPr>
        <p:spPr>
          <a:xfrm>
            <a:off x="5286675" y="1905400"/>
            <a:ext cx="387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FF"/>
                </a:solidFill>
              </a:rPr>
              <a:t>What are these sorting by?</a:t>
            </a:r>
            <a:endParaRPr sz="1800">
              <a:solidFill>
                <a:srgbClr val="FF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6" title="Screenshot 2026-01-28 at 9.49.06 PM.png"/>
          <p:cNvPicPr preferRelativeResize="0"/>
          <p:nvPr/>
        </p:nvPicPr>
        <p:blipFill rotWithShape="1">
          <a:blip r:embed="rId3">
            <a:alphaModFix/>
          </a:blip>
          <a:srcRect b="16916" l="0" r="0" t="0"/>
          <a:stretch/>
        </p:blipFill>
        <p:spPr>
          <a:xfrm>
            <a:off x="129075" y="0"/>
            <a:ext cx="6521051" cy="42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6"/>
          <p:cNvSpPr txBox="1"/>
          <p:nvPr/>
        </p:nvSpPr>
        <p:spPr>
          <a:xfrm>
            <a:off x="319450" y="1134400"/>
            <a:ext cx="2555100" cy="169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students = [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(10, 85, "Alice"),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(12, 92, "Charlie"),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(10, 95, "Bob"),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(12, 85, "David"),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(11, 88, "Eve")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]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01" name="Google Shape;201;p36"/>
          <p:cNvSpPr txBox="1"/>
          <p:nvPr/>
        </p:nvSpPr>
        <p:spPr>
          <a:xfrm>
            <a:off x="3194800" y="914700"/>
            <a:ext cx="5541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First, sort the list by the score, but in reverse order (descending)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Then, sort the list by the grade (higher priority)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Loop through the list to print out each tuple</a:t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7" title="Screenshot 2026-01-28 at 9.49.06 PM.png"/>
          <p:cNvPicPr preferRelativeResize="0"/>
          <p:nvPr/>
        </p:nvPicPr>
        <p:blipFill rotWithShape="1">
          <a:blip r:embed="rId3">
            <a:alphaModFix/>
          </a:blip>
          <a:srcRect b="16916" l="0" r="0" t="0"/>
          <a:stretch/>
        </p:blipFill>
        <p:spPr>
          <a:xfrm>
            <a:off x="129075" y="0"/>
            <a:ext cx="6521051" cy="427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7" title="Screenshot 2026-01-28 at 9.52.4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7325" y="679175"/>
            <a:ext cx="5490150" cy="22782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7"/>
          <p:cNvSpPr txBox="1"/>
          <p:nvPr/>
        </p:nvSpPr>
        <p:spPr>
          <a:xfrm>
            <a:off x="319450" y="1134400"/>
            <a:ext cx="2555100" cy="190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students = [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(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10, 85, "Alice"),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(12, 92, "Charlie"),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(10, 95, "Bob"),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(12, 85, "David"),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(11, 88, "Eve")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]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In-Place Sorting with the </a:t>
            </a:r>
            <a:r>
              <a:rPr lang="en-US" sz="2520">
                <a:solidFill>
                  <a:schemeClr val="accent5"/>
                </a:solidFill>
              </a:rPr>
              <a:t>list.sort()</a:t>
            </a:r>
            <a:r>
              <a:rPr lang="en-US" sz="2520"/>
              <a:t> Method</a:t>
            </a:r>
            <a:endParaRPr sz="2520"/>
          </a:p>
        </p:txBody>
      </p:sp>
      <p:sp>
        <p:nvSpPr>
          <p:cNvPr id="214" name="Google Shape;21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• Python lists also have a </a:t>
            </a:r>
            <a:r>
              <a:rPr lang="en-US" sz="1600">
                <a:solidFill>
                  <a:schemeClr val="accent5"/>
                </a:solidFill>
              </a:rPr>
              <a:t>sort()</a:t>
            </a:r>
            <a:r>
              <a:rPr lang="en-US" sz="1600"/>
              <a:t> method, which rearranges the elements of that same list into ascending order instead of producing a separate sorted copy.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</a:t>
            </a:r>
            <a:r>
              <a:rPr lang="en-US" sz="1400"/>
              <a:t> ◦ Called as alist</a:t>
            </a:r>
            <a:r>
              <a:rPr lang="en-US" sz="1400">
                <a:solidFill>
                  <a:schemeClr val="accent5"/>
                </a:solidFill>
              </a:rPr>
              <a:t>.sort()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Only works on lists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A key difference is that </a:t>
            </a:r>
            <a:r>
              <a:rPr lang="en-US" sz="1600">
                <a:solidFill>
                  <a:schemeClr val="accent5"/>
                </a:solidFill>
              </a:rPr>
              <a:t>list.sort() </a:t>
            </a:r>
            <a:r>
              <a:rPr lang="en-US" sz="1600"/>
              <a:t>returns </a:t>
            </a:r>
            <a:r>
              <a:rPr lang="en-US" sz="1600">
                <a:solidFill>
                  <a:srgbClr val="FF00FF"/>
                </a:solidFill>
              </a:rPr>
              <a:t>None</a:t>
            </a:r>
            <a:r>
              <a:rPr lang="en-US" sz="1600"/>
              <a:t>, so you should call it as a standalone statement rather than trying to assign its “result” to a variable.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</a:t>
            </a:r>
            <a:r>
              <a:rPr lang="en-US" sz="1400"/>
              <a:t>◦ Very common beginner misunderstanding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Because </a:t>
            </a:r>
            <a:r>
              <a:rPr lang="en-US" sz="1600">
                <a:solidFill>
                  <a:schemeClr val="accent5"/>
                </a:solidFill>
              </a:rPr>
              <a:t>sort() </a:t>
            </a:r>
            <a:r>
              <a:rPr lang="en-US" sz="1600"/>
              <a:t>changes the list directly, it can be </a:t>
            </a:r>
            <a:r>
              <a:rPr lang="en-US" sz="1600">
                <a:solidFill>
                  <a:schemeClr val="accent4"/>
                </a:solidFill>
              </a:rPr>
              <a:t>slightly faster</a:t>
            </a:r>
            <a:r>
              <a:rPr lang="en-US" sz="1600"/>
              <a:t> when you already have a list and you do not need the original ordering for anything else.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Avoids creating a new list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/>
              <a:t>  ◦ May save memory</a:t>
            </a:r>
            <a:endParaRPr sz="1400"/>
          </a:p>
        </p:txBody>
      </p:sp>
      <p:sp>
        <p:nvSpPr>
          <p:cNvPr id="215" name="Google Shape;215;p38"/>
          <p:cNvSpPr txBox="1"/>
          <p:nvPr/>
        </p:nvSpPr>
        <p:spPr>
          <a:xfrm>
            <a:off x="4405550" y="3183025"/>
            <a:ext cx="429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FF"/>
                </a:solidFill>
              </a:rPr>
              <a:t>Why does this list method return None?</a:t>
            </a:r>
            <a:endParaRPr sz="18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Correct and incorrect uses of list.</a:t>
            </a:r>
            <a:r>
              <a:rPr lang="en-US" sz="2520">
                <a:solidFill>
                  <a:schemeClr val="accent5"/>
                </a:solidFill>
              </a:rPr>
              <a:t>sort()</a:t>
            </a:r>
            <a:endParaRPr sz="2520">
              <a:solidFill>
                <a:schemeClr val="accent5"/>
              </a:solidFill>
            </a:endParaRPr>
          </a:p>
        </p:txBody>
      </p:sp>
      <p:sp>
        <p:nvSpPr>
          <p:cNvPr id="221" name="Google Shape;22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</a:t>
            </a:r>
            <a:r>
              <a:rPr lang="en-US">
                <a:solidFill>
                  <a:schemeClr val="accent5"/>
                </a:solidFill>
              </a:rPr>
              <a:t>alist.sort()            ## correct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alist = blist.sort()    ## Incorrect. sort() returns None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Choosing Between </a:t>
            </a:r>
            <a:r>
              <a:rPr lang="en-US" sz="2520">
                <a:solidFill>
                  <a:schemeClr val="accent5"/>
                </a:solidFill>
              </a:rPr>
              <a:t>sorted() </a:t>
            </a:r>
            <a:r>
              <a:rPr lang="en-US" sz="2520"/>
              <a:t>and </a:t>
            </a:r>
            <a:r>
              <a:rPr lang="en-US" sz="2520">
                <a:solidFill>
                  <a:schemeClr val="accent5"/>
                </a:solidFill>
              </a:rPr>
              <a:t>sort()</a:t>
            </a:r>
            <a:endParaRPr sz="2520">
              <a:solidFill>
                <a:schemeClr val="accent5"/>
              </a:solidFill>
            </a:endParaRPr>
          </a:p>
        </p:txBody>
      </p:sp>
      <p:sp>
        <p:nvSpPr>
          <p:cNvPr id="227" name="Google Shape;22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• Use </a:t>
            </a:r>
            <a:r>
              <a:rPr lang="en-US" sz="1400">
                <a:solidFill>
                  <a:schemeClr val="accent5"/>
                </a:solidFill>
              </a:rPr>
              <a:t>sorted()</a:t>
            </a:r>
            <a:r>
              <a:rPr lang="en-US" sz="1400"/>
              <a:t> when you want a new sorted list and you need to preserve the original sequence, because </a:t>
            </a:r>
            <a:r>
              <a:rPr lang="en-US" sz="1400">
                <a:solidFill>
                  <a:schemeClr val="accent5"/>
                </a:solidFill>
              </a:rPr>
              <a:t>sorted()</a:t>
            </a:r>
            <a:r>
              <a:rPr lang="en-US" sz="1400"/>
              <a:t> leaves the input unchanged and is easy to reason about.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/>
              <a:t>  ◦ Works on any </a:t>
            </a:r>
            <a:r>
              <a:rPr lang="en-US" sz="1200">
                <a:solidFill>
                  <a:schemeClr val="accent4"/>
                </a:solidFill>
              </a:rPr>
              <a:t>iterable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/>
              <a:t>  ◦ Returns a new list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• Use list</a:t>
            </a:r>
            <a:r>
              <a:rPr lang="en-US" sz="1400">
                <a:solidFill>
                  <a:schemeClr val="accent5"/>
                </a:solidFill>
              </a:rPr>
              <a:t>.sort()</a:t>
            </a:r>
            <a:r>
              <a:rPr lang="en-US" sz="1400"/>
              <a:t> when you already have a list and you are comfortable modifying it in place, especially when performance or memory use matters in large lists.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/>
              <a:t>  ◦ List-only method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/>
              <a:t>  ◦ Sorts in place and returns</a:t>
            </a:r>
            <a:r>
              <a:rPr lang="en-US" sz="1200">
                <a:solidFill>
                  <a:srgbClr val="FF00FF"/>
                </a:solidFill>
              </a:rPr>
              <a:t> None</a:t>
            </a:r>
            <a:endParaRPr sz="12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• You may see </a:t>
            </a:r>
            <a:r>
              <a:rPr lang="en-US" sz="1400">
                <a:solidFill>
                  <a:schemeClr val="accent5"/>
                </a:solidFill>
              </a:rPr>
              <a:t>sort() </a:t>
            </a:r>
            <a:r>
              <a:rPr lang="en-US" sz="1400"/>
              <a:t>more often in older code because it existed before </a:t>
            </a:r>
            <a:r>
              <a:rPr lang="en-US" sz="1400">
                <a:solidFill>
                  <a:schemeClr val="accent5"/>
                </a:solidFill>
              </a:rPr>
              <a:t>sorted(),</a:t>
            </a:r>
            <a:r>
              <a:rPr lang="en-US" sz="1400"/>
              <a:t> but modern Python code frequently </a:t>
            </a:r>
            <a:r>
              <a:rPr lang="en-US" sz="1400">
                <a:solidFill>
                  <a:schemeClr val="accent4"/>
                </a:solidFill>
              </a:rPr>
              <a:t>prefers </a:t>
            </a:r>
            <a:r>
              <a:rPr lang="en-US" sz="1400">
                <a:solidFill>
                  <a:schemeClr val="accent5"/>
                </a:solidFill>
              </a:rPr>
              <a:t>sorted() </a:t>
            </a:r>
            <a:r>
              <a:rPr lang="en-US" sz="1400"/>
              <a:t>for its clearer return behavior.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Older style: list.</a:t>
            </a:r>
            <a:r>
              <a:rPr lang="en-US" sz="1400">
                <a:solidFill>
                  <a:schemeClr val="accent5"/>
                </a:solidFill>
              </a:rPr>
              <a:t>sort()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/>
              <a:t>  ◦ Newer style: </a:t>
            </a:r>
            <a:r>
              <a:rPr lang="en-US" sz="1400">
                <a:solidFill>
                  <a:schemeClr val="accent5"/>
                </a:solidFill>
              </a:rPr>
              <a:t>sorted(iterable)</a:t>
            </a:r>
            <a:endParaRPr sz="1400">
              <a:solidFill>
                <a:schemeClr val="accent5"/>
              </a:solidFill>
            </a:endParaRPr>
          </a:p>
        </p:txBody>
      </p:sp>
      <p:pic>
        <p:nvPicPr>
          <p:cNvPr id="228" name="Google Shape;228;p40" title="Screenshot 2026-01-28 at 9.23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8625" y="1839300"/>
            <a:ext cx="5489225" cy="484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41" title="Screenshot 2026-01-28 at 9.33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00" y="75422"/>
            <a:ext cx="5552226" cy="285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1" title="Screenshot 2026-01-28 at 9.34.55 PM.png"/>
          <p:cNvPicPr preferRelativeResize="0"/>
          <p:nvPr/>
        </p:nvPicPr>
        <p:blipFill rotWithShape="1">
          <a:blip r:embed="rId4">
            <a:alphaModFix/>
          </a:blip>
          <a:srcRect b="0" l="0" r="0" t="10865"/>
          <a:stretch/>
        </p:blipFill>
        <p:spPr>
          <a:xfrm>
            <a:off x="4631255" y="2935125"/>
            <a:ext cx="4264469" cy="19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1"/>
          <p:cNvSpPr txBox="1"/>
          <p:nvPr/>
        </p:nvSpPr>
        <p:spPr>
          <a:xfrm>
            <a:off x="6156775" y="594750"/>
            <a:ext cx="300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FF"/>
                </a:solidFill>
              </a:rPr>
              <a:t>Solve this using list.sort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236" name="Google Shape;236;p41"/>
          <p:cNvSpPr txBox="1"/>
          <p:nvPr/>
        </p:nvSpPr>
        <p:spPr>
          <a:xfrm>
            <a:off x="4361375" y="1193075"/>
            <a:ext cx="4264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</a:rPr>
              <a:t>products = [ {"name": "Laptop", "price": 1200}, {"name": "Mouse", "price": 25}, {"name": "Keyboard", "price": 75} ]</a:t>
            </a:r>
            <a:endParaRPr sz="180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2" title="Screenshot 2026-01-28 at 9.49.06 PM.png"/>
          <p:cNvPicPr preferRelativeResize="0"/>
          <p:nvPr/>
        </p:nvPicPr>
        <p:blipFill rotWithShape="1">
          <a:blip r:embed="rId3">
            <a:alphaModFix/>
          </a:blip>
          <a:srcRect b="16750" l="0" r="0" t="0"/>
          <a:stretch/>
        </p:blipFill>
        <p:spPr>
          <a:xfrm>
            <a:off x="129075" y="0"/>
            <a:ext cx="6521051" cy="428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2" title="Screenshot 2026-01-28 at 9.50.0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6425" y="1308974"/>
            <a:ext cx="4834751" cy="184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2"/>
          <p:cNvSpPr txBox="1"/>
          <p:nvPr/>
        </p:nvSpPr>
        <p:spPr>
          <a:xfrm>
            <a:off x="6156775" y="594750"/>
            <a:ext cx="300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FF"/>
                </a:solidFill>
              </a:rPr>
              <a:t>Solve this using list.sort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244" name="Google Shape;244;p42"/>
          <p:cNvSpPr txBox="1"/>
          <p:nvPr/>
        </p:nvSpPr>
        <p:spPr>
          <a:xfrm>
            <a:off x="6836300" y="2744075"/>
            <a:ext cx="186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students = [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(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10, 85, "Alice"),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(12, 92, "Charlie"),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(10, 95, "Bob"),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(12, 85, "David"),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(11, 88, "Eve")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]</a:t>
            </a:r>
            <a:endParaRPr/>
          </a:p>
        </p:txBody>
      </p:sp>
      <p:sp>
        <p:nvSpPr>
          <p:cNvPr id="245" name="Google Shape;245;p42"/>
          <p:cNvSpPr txBox="1"/>
          <p:nvPr/>
        </p:nvSpPr>
        <p:spPr>
          <a:xfrm>
            <a:off x="1150425" y="4379025"/>
            <a:ext cx="7879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Why don’t we sort Grade first instead of Score first?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</a:rPr>
              <a:t>Grade has higher priority and so should determine the final sort order.</a:t>
            </a:r>
            <a:endParaRPr sz="180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Tuples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Tuples: Fixed-Size Groupings of Values</a:t>
            </a:r>
            <a:endParaRPr sz="2520"/>
          </a:p>
        </p:txBody>
      </p:sp>
      <p:sp>
        <p:nvSpPr>
          <p:cNvPr id="256" name="Google Shape;256;p44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 </a:t>
            </a:r>
            <a:r>
              <a:rPr lang="en-US">
                <a:solidFill>
                  <a:schemeClr val="accent4"/>
                </a:solidFill>
              </a:rPr>
              <a:t>tuple </a:t>
            </a:r>
            <a:r>
              <a:rPr lang="en-US"/>
              <a:t>is a fixed-size grouping of elements, such as an (x, y) coordinate, and it is similar to a list except its size and contents are </a:t>
            </a:r>
            <a:r>
              <a:rPr lang="en-US">
                <a:solidFill>
                  <a:srgbClr val="E06666"/>
                </a:solidFill>
              </a:rPr>
              <a:t>not meant to change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Written with parentheses and commas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Often used for </a:t>
            </a:r>
            <a:r>
              <a:rPr lang="en-US">
                <a:solidFill>
                  <a:schemeClr val="accent4"/>
                </a:solidFill>
              </a:rPr>
              <a:t>structured data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Tuples are considered </a:t>
            </a:r>
            <a:r>
              <a:rPr lang="en-US">
                <a:solidFill>
                  <a:srgbClr val="E06666"/>
                </a:solidFill>
              </a:rPr>
              <a:t>immutable</a:t>
            </a:r>
            <a:r>
              <a:rPr lang="en-US"/>
              <a:t>, meaning you cannot assign to an individual position, although a tuple </a:t>
            </a:r>
            <a:r>
              <a:rPr lang="en-US">
                <a:solidFill>
                  <a:schemeClr val="accent5"/>
                </a:solidFill>
              </a:rPr>
              <a:t>can still contain a mutable object such as a list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Immutability applies to tuple slots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Contained objects may still be mutable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Each record uses a consistent shape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Tuples contain structured data</a:t>
            </a:r>
            <a:endParaRPr/>
          </a:p>
        </p:txBody>
      </p:sp>
      <p:sp>
        <p:nvSpPr>
          <p:cNvPr id="262" name="Google Shape;26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Tuples are commonly used like lightweight “structs” to pass small bundles of related values, and functions can return multiple values by returning a tuple.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Example: </a:t>
            </a:r>
            <a:r>
              <a:rPr lang="en-US">
                <a:solidFill>
                  <a:schemeClr val="accent5"/>
                </a:solidFill>
              </a:rPr>
              <a:t>return (result, errorCode)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Easy multi-value returns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A natural way to represent many fixed-format records is a </a:t>
            </a:r>
            <a:r>
              <a:rPr lang="en-US">
                <a:solidFill>
                  <a:schemeClr val="accent4"/>
                </a:solidFill>
              </a:rPr>
              <a:t>list of tuples,</a:t>
            </a:r>
            <a:r>
              <a:rPr lang="en-US"/>
              <a:t> such as a list where each element is a three-item (x, y, z) coordinate tuple.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4"/>
                </a:solidFill>
              </a:rPr>
              <a:t>List holds many records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Tuple basics and immutability</a:t>
            </a:r>
            <a:endParaRPr sz="2520"/>
          </a:p>
        </p:txBody>
      </p:sp>
      <p:sp>
        <p:nvSpPr>
          <p:cNvPr id="268" name="Google Shape;268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</a:t>
            </a:r>
            <a:r>
              <a:rPr lang="en-US">
                <a:solidFill>
                  <a:schemeClr val="accent5"/>
                </a:solidFill>
              </a:rPr>
              <a:t>tuple = (1, 2, 'hi')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print(len(tuple))  ## 3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print(tuple[2])    ## hi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tuple[2] = 'bye'  ## NO, tuples cannot be changed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tuple = (1, 2, 'bye') </a:t>
            </a:r>
            <a:r>
              <a:rPr lang="en-US">
                <a:solidFill>
                  <a:srgbClr val="FF0000"/>
                </a:solidFill>
              </a:rPr>
              <a:t> ## this works because you’re replacing the entire tuple with a new tuple, i.e. reassignment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Creating Tuples, Including the Special Case of Size 1</a:t>
            </a:r>
            <a:endParaRPr sz="2520"/>
          </a:p>
        </p:txBody>
      </p:sp>
      <p:sp>
        <p:nvSpPr>
          <p:cNvPr id="274" name="Google Shape;274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You create a tuple by placing values separated by commas, usually inside parentheses, and the empty tuple is written as an empty pair of parentheses: </a:t>
            </a:r>
            <a:r>
              <a:rPr lang="en-US">
                <a:solidFill>
                  <a:schemeClr val="accent5"/>
                </a:solidFill>
              </a:rPr>
              <a:t>()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Examples: </a:t>
            </a:r>
            <a:r>
              <a:rPr lang="en-US">
                <a:solidFill>
                  <a:schemeClr val="accent5"/>
                </a:solidFill>
              </a:rPr>
              <a:t>(1, 2), ('a', 'b'), ()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Reading a tuple is just like reading a list, so operations such as </a:t>
            </a:r>
            <a:r>
              <a:rPr lang="en-US">
                <a:solidFill>
                  <a:schemeClr val="accent5"/>
                </a:solidFill>
              </a:rPr>
              <a:t>len()</a:t>
            </a:r>
            <a:r>
              <a:rPr lang="en-US"/>
              <a:t>, indexing with square brackets, looping with for, and testing membership with in work the same.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r>
              <a:rPr lang="en-US">
                <a:solidFill>
                  <a:schemeClr val="accent5"/>
                </a:solidFill>
              </a:rPr>
              <a:t>◦ len(tuple)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◦ tuple[0]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◦ for x in tuple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One-item Tuple </a:t>
            </a:r>
            <a:endParaRPr/>
          </a:p>
        </p:txBody>
      </p:sp>
      <p:sp>
        <p:nvSpPr>
          <p:cNvPr id="280" name="Google Shape;280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 one-item tuple requires a trailing comma to make Python treat it as a tuple rather than just an expression in parentheses, which prevents confusing syntax mistakes.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('hi',) </a:t>
            </a:r>
            <a:r>
              <a:rPr lang="en-US"/>
              <a:t>is a tuple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('hi') </a:t>
            </a:r>
            <a:r>
              <a:rPr lang="en-US"/>
              <a:t>is just a string in parentheses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 Creating a one-item tuple;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tuple = ('hi',) </a:t>
            </a:r>
            <a:r>
              <a:rPr lang="en-US"/>
              <a:t>  ## size-1 tuple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Tuple assignment without parentheses</a:t>
            </a:r>
            <a:endParaRPr sz="2520"/>
          </a:p>
        </p:txBody>
      </p:sp>
      <p:sp>
        <p:nvSpPr>
          <p:cNvPr id="286" name="Google Shape;286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</a:t>
            </a:r>
            <a:r>
              <a:rPr lang="en-US">
                <a:solidFill>
                  <a:schemeClr val="accent4"/>
                </a:solidFill>
              </a:rPr>
              <a:t>Python can infer a tuple from commas even without parentheses </a:t>
            </a:r>
            <a:r>
              <a:rPr lang="en-US"/>
              <a:t>in some contexts, because the comma is what actually defines the tuple structure in the language.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Parentheses may be optional in some assignments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Tuple Packing and Unpacking (Parallel Assignment)</a:t>
            </a:r>
            <a:endParaRPr sz="2520"/>
          </a:p>
        </p:txBody>
      </p:sp>
      <p:sp>
        <p:nvSpPr>
          <p:cNvPr id="292" name="Google Shape;292;p50"/>
          <p:cNvSpPr txBox="1"/>
          <p:nvPr>
            <p:ph idx="1" type="body"/>
          </p:nvPr>
        </p:nvSpPr>
        <p:spPr>
          <a:xfrm>
            <a:off x="311700" y="108619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When you assign a tuple to a matching tuple of variable names, Python performs unpacking by placing each value into its corresponding variable position in one step.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</a:t>
            </a:r>
            <a:r>
              <a:rPr lang="en-US" sz="1600">
                <a:solidFill>
                  <a:schemeClr val="accent4"/>
                </a:solidFill>
              </a:rPr>
              <a:t>◦ Left side: variables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FF"/>
                </a:solidFill>
              </a:rPr>
              <a:t>  ◦ Right side: tuple values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Unpacking requires the same number of items on both sides, and Python raises an error if the sizes do not match, which helps catch mistakes early.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Mismatch causes an exception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This </a:t>
            </a:r>
            <a:r>
              <a:rPr lang="en-US" sz="1600">
                <a:solidFill>
                  <a:schemeClr val="accent4"/>
                </a:solidFill>
              </a:rPr>
              <a:t>unpacking feature also works with lists</a:t>
            </a:r>
            <a:r>
              <a:rPr lang="en-US" sz="1600"/>
              <a:t>, and it is commonly used </a:t>
            </a:r>
            <a:r>
              <a:rPr lang="en-US" sz="1600">
                <a:solidFill>
                  <a:schemeClr val="accent4"/>
                </a:solidFill>
              </a:rPr>
              <a:t>when a function returns multiple values</a:t>
            </a:r>
            <a:r>
              <a:rPr lang="en-US" sz="1600"/>
              <a:t>, allowing you to store each result in a named variable.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Readable multi-value returns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/>
              <a:t>  ◦ Common pattern: </a:t>
            </a:r>
            <a:r>
              <a:rPr lang="en-US" sz="1600">
                <a:solidFill>
                  <a:schemeClr val="accent5"/>
                </a:solidFill>
              </a:rPr>
              <a:t>(a, b) = function()</a:t>
            </a:r>
            <a:endParaRPr sz="16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Tuple unpacking and multi-value returns</a:t>
            </a:r>
            <a:endParaRPr sz="2520"/>
          </a:p>
        </p:txBody>
      </p:sp>
      <p:sp>
        <p:nvSpPr>
          <p:cNvPr id="298" name="Google Shape;298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r>
              <a:rPr lang="en-US">
                <a:solidFill>
                  <a:schemeClr val="accent5"/>
                </a:solidFill>
              </a:rPr>
              <a:t> (</a:t>
            </a:r>
            <a:r>
              <a:rPr lang="en-US">
                <a:solidFill>
                  <a:schemeClr val="accent5"/>
                </a:solidFill>
              </a:rPr>
              <a:t>x, y, z) = (42, 13, "hike")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print(z)  ## hike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(err_string, err_code) = Foo()  ## Foo() returns a length-2 tuple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Tuple sorting example</a:t>
            </a:r>
            <a:endParaRPr/>
          </a:p>
        </p:txBody>
      </p:sp>
      <p:pic>
        <p:nvPicPr>
          <p:cNvPr id="304" name="Google Shape;304;p52" title="Screenshot 2026-01-28 at 10.06.51 PM.png"/>
          <p:cNvPicPr preferRelativeResize="0"/>
          <p:nvPr/>
        </p:nvPicPr>
        <p:blipFill rotWithShape="1">
          <a:blip r:embed="rId3">
            <a:alphaModFix/>
          </a:blip>
          <a:srcRect b="59021" l="0" r="0" t="0"/>
          <a:stretch/>
        </p:blipFill>
        <p:spPr>
          <a:xfrm>
            <a:off x="316000" y="1149700"/>
            <a:ext cx="7001525" cy="111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52" title="Screenshot 2026-01-28 at 10.06.51 PM.png"/>
          <p:cNvPicPr preferRelativeResize="0"/>
          <p:nvPr/>
        </p:nvPicPr>
        <p:blipFill rotWithShape="1">
          <a:blip r:embed="rId3">
            <a:alphaModFix/>
          </a:blip>
          <a:srcRect b="-15183" l="0" r="0" t="76725"/>
          <a:stretch/>
        </p:blipFill>
        <p:spPr>
          <a:xfrm>
            <a:off x="375625" y="2187325"/>
            <a:ext cx="7001525" cy="10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52" title="Screenshot 2026-01-29 at 10.28.0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7650" y="3235750"/>
            <a:ext cx="6459504" cy="160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Comprehension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List Comprehensions: A Compact Way to Build Lists </a:t>
            </a:r>
            <a:endParaRPr sz="2520"/>
          </a:p>
        </p:txBody>
      </p:sp>
      <p:sp>
        <p:nvSpPr>
          <p:cNvPr id="317" name="Google Shape;317;p54"/>
          <p:cNvSpPr txBox="1"/>
          <p:nvPr>
            <p:ph idx="1" type="body"/>
          </p:nvPr>
        </p:nvSpPr>
        <p:spPr>
          <a:xfrm>
            <a:off x="311700" y="1245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 </a:t>
            </a:r>
            <a:r>
              <a:rPr lang="en-US">
                <a:solidFill>
                  <a:schemeClr val="accent4"/>
                </a:solidFill>
              </a:rPr>
              <a:t>list comprehension</a:t>
            </a:r>
            <a:r>
              <a:rPr lang="en-US"/>
              <a:t> is a compact expression that </a:t>
            </a:r>
            <a:r>
              <a:rPr lang="en-US">
                <a:solidFill>
                  <a:schemeClr val="accent5"/>
                </a:solidFill>
              </a:rPr>
              <a:t>creates a whole new list </a:t>
            </a:r>
            <a:r>
              <a:rPr lang="en-US"/>
              <a:t>by applying an expression to every element in an existing list, without writing a full loop.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Creates a new 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Often replaces a simple for-loop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The basic pattern is </a:t>
            </a:r>
            <a:r>
              <a:rPr lang="en-US">
                <a:solidFill>
                  <a:schemeClr val="accent4"/>
                </a:solidFill>
              </a:rPr>
              <a:t>[expr for var in list],</a:t>
            </a:r>
            <a:r>
              <a:rPr lang="en-US"/>
              <a:t> where var takes on each element value, and expr is evaluated once per element to produce the output list values.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No colon at the 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Looks like a loop inside brackets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•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Squares using a list comprehension</a:t>
            </a:r>
            <a:endParaRPr sz="2520"/>
          </a:p>
        </p:txBody>
      </p:sp>
      <p:sp>
        <p:nvSpPr>
          <p:cNvPr id="323" name="Google Shape;323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</a:t>
            </a:r>
            <a:r>
              <a:rPr lang="en-US">
                <a:solidFill>
                  <a:schemeClr val="accent5"/>
                </a:solidFill>
              </a:rPr>
              <a:t>nums = [1, 2, 3, 4]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squares = [ n * n for n in nums ]   ## [1, 4, 9, 16]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Although list comprehensions are convenient, they are </a:t>
            </a:r>
            <a:r>
              <a:rPr lang="en-US">
                <a:solidFill>
                  <a:schemeClr val="accent4"/>
                </a:solidFill>
              </a:rPr>
              <a:t>optional for beginners</a:t>
            </a:r>
            <a:r>
              <a:rPr lang="en-US"/>
              <a:t>, and you can skip them until you are comfortable with lists, loops, and functions.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Not required for early exercises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Learn later if it feels too dense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Transforming Strings with List Comprehensions</a:t>
            </a:r>
            <a:endParaRPr sz="2520"/>
          </a:p>
        </p:txBody>
      </p:sp>
      <p:sp>
        <p:nvSpPr>
          <p:cNvPr id="329" name="Google Shape;329;p56"/>
          <p:cNvSpPr txBox="1"/>
          <p:nvPr>
            <p:ph idx="1" type="body"/>
          </p:nvPr>
        </p:nvSpPr>
        <p:spPr>
          <a:xfrm>
            <a:off x="311700" y="1112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List comprehensions are especially readable when you want to transform every element in a list, </a:t>
            </a:r>
            <a:r>
              <a:rPr lang="en-US">
                <a:solidFill>
                  <a:schemeClr val="accent4"/>
                </a:solidFill>
              </a:rPr>
              <a:t>such as converting each string to uppercase</a:t>
            </a:r>
            <a:r>
              <a:rPr lang="en-US"/>
              <a:t> and adding extra characters.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One expression per element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Clear “input list to output list” flow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In a transformation comprehension, the expression on the left of the </a:t>
            </a:r>
            <a:r>
              <a:rPr lang="en-US">
                <a:solidFill>
                  <a:schemeClr val="accent4"/>
                </a:solidFill>
              </a:rPr>
              <a:t>for-clause</a:t>
            </a:r>
            <a:r>
              <a:rPr lang="en-US"/>
              <a:t> describes </a:t>
            </a:r>
            <a:r>
              <a:rPr lang="en-US">
                <a:solidFill>
                  <a:srgbClr val="FF00FF"/>
                </a:solidFill>
              </a:rPr>
              <a:t>how each output element is computed</a:t>
            </a:r>
            <a:r>
              <a:rPr lang="en-US"/>
              <a:t>, while the for-clause describes </a:t>
            </a:r>
            <a:r>
              <a:rPr lang="en-US">
                <a:solidFill>
                  <a:srgbClr val="FF00FF"/>
                </a:solidFill>
              </a:rPr>
              <a:t>where inputs come from.</a:t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Left side: output formula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Right side: iteration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Uppercasing strings and appending text</a:t>
            </a:r>
            <a:endParaRPr sz="2520"/>
          </a:p>
        </p:txBody>
      </p:sp>
      <p:sp>
        <p:nvSpPr>
          <p:cNvPr id="335" name="Google Shape;335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</a:t>
            </a:r>
            <a:r>
              <a:rPr lang="en-US">
                <a:solidFill>
                  <a:schemeClr val="accent5"/>
                </a:solidFill>
              </a:rPr>
              <a:t>strs = ['hello', 'and', 'goodbye']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shouting = [ s.upper() + '!!!' for s in strs 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</a:t>
            </a:r>
            <a:r>
              <a:rPr lang="en-US">
                <a:solidFill>
                  <a:schemeClr val="accent4"/>
                </a:solidFill>
              </a:rPr>
              <a:t>## ['HELLO!!!', 'AND!!!', 'GOODBYE!!!']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Because the result is a brand-new list, the </a:t>
            </a:r>
            <a:r>
              <a:rPr lang="en-US">
                <a:solidFill>
                  <a:srgbClr val="FF00FF"/>
                </a:solidFill>
              </a:rPr>
              <a:t>original list of strings remains unchanged</a:t>
            </a:r>
            <a:r>
              <a:rPr lang="en-US"/>
              <a:t> unless you explicitly replace it, which helps prevent accidental data loss.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Original list stays available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Assign result to a new variable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Filtering with </a:t>
            </a:r>
            <a:r>
              <a:rPr lang="en-US" sz="2520">
                <a:solidFill>
                  <a:schemeClr val="accent5"/>
                </a:solidFill>
              </a:rPr>
              <a:t>if </a:t>
            </a:r>
            <a:r>
              <a:rPr lang="en-US" sz="2520"/>
              <a:t>in a List Comprehension</a:t>
            </a:r>
            <a:endParaRPr sz="2520"/>
          </a:p>
        </p:txBody>
      </p:sp>
      <p:sp>
        <p:nvSpPr>
          <p:cNvPr id="341" name="Google Shape;341;p58"/>
          <p:cNvSpPr txBox="1"/>
          <p:nvPr>
            <p:ph idx="1" type="body"/>
          </p:nvPr>
        </p:nvSpPr>
        <p:spPr>
          <a:xfrm>
            <a:off x="311700" y="932197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 list comprehension can include an if condition after the for-clause, and the condition is checked for each element to decide whether that element is included.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Pattern: </a:t>
            </a:r>
            <a:r>
              <a:rPr lang="en-US">
                <a:solidFill>
                  <a:schemeClr val="accent4"/>
                </a:solidFill>
              </a:rPr>
              <a:t>[expr for var in list if condition]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Filtering is useful when you want to select only certain items, such as keeping numbers less than or equal to a threshold, while leaving out items that fail the test.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Example: </a:t>
            </a:r>
            <a:r>
              <a:rPr lang="en-US">
                <a:solidFill>
                  <a:schemeClr val="accent4"/>
                </a:solidFill>
              </a:rPr>
              <a:t>keep values &lt;= 2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You can combine filtering and transformation, such as selecting only fruit names containing a particular letter and converting those selected names to uppercase in the resulting list.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Example:</a:t>
            </a:r>
            <a:r>
              <a:rPr lang="en-US">
                <a:solidFill>
                  <a:schemeClr val="accent4"/>
                </a:solidFill>
              </a:rPr>
              <a:t> 'a' in the string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Then apply </a:t>
            </a:r>
            <a:r>
              <a:rPr lang="en-US">
                <a:solidFill>
                  <a:schemeClr val="accent4"/>
                </a:solidFill>
              </a:rPr>
              <a:t>.upper()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Session Starts Here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Filtering numbers and strings with </a:t>
            </a:r>
            <a:r>
              <a:rPr lang="en-US" sz="2520">
                <a:solidFill>
                  <a:schemeClr val="accent5"/>
                </a:solidFill>
              </a:rPr>
              <a:t>if</a:t>
            </a:r>
            <a:endParaRPr sz="2520">
              <a:solidFill>
                <a:schemeClr val="accent5"/>
              </a:solidFill>
            </a:endParaRPr>
          </a:p>
        </p:txBody>
      </p:sp>
      <p:sp>
        <p:nvSpPr>
          <p:cNvPr id="352" name="Google Shape;352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•  ## Select values &lt;= 2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nums = [2, 8, 1, 6]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small = [ n for n in nums if n &lt;= 2 ]  ## [2, 1]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  ## Select fruits containing 'a', change to upper case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fruits = ['apple', 'cherry', 'banana', 'lemon']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afruits = [ s.upper() for s in fruits if 'a' in s 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</a:t>
            </a:r>
            <a:r>
              <a:rPr lang="en-US">
                <a:solidFill>
                  <a:schemeClr val="accent4"/>
                </a:solidFill>
              </a:rPr>
              <a:t>## ['APPLE', 'BANANA']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61" title="Screenshot 2026-02-04 at 9.01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81624"/>
            <a:ext cx="7681848" cy="168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61" title="Screenshot 2026-02-04 at 9.01.5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7675" y="2644075"/>
            <a:ext cx="3979225" cy="10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62" title="Screenshot 2026-02-04 at 9.02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" y="253199"/>
            <a:ext cx="8023276" cy="17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62" title="Screenshot 2026-02-04 at 9.02.5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1750" y="2935875"/>
            <a:ext cx="5253350" cy="11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63" title="Screenshot 2026-02-04 at 9.03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525" y="185850"/>
            <a:ext cx="8480950" cy="244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63" title="Screenshot 2026-02-04 at 9.04.3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0775" y="3039851"/>
            <a:ext cx="6601699" cy="164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63"/>
          <p:cNvSpPr txBox="1"/>
          <p:nvPr/>
        </p:nvSpPr>
        <p:spPr>
          <a:xfrm>
            <a:off x="173175" y="2548225"/>
            <a:ext cx="581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names = ["Alice", "Bob", "Amanda", "Charlie", "Austin"]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Practice: Applying Sorting and Tuples</a:t>
            </a:r>
            <a:endParaRPr sz="2520"/>
          </a:p>
        </p:txBody>
      </p:sp>
      <p:sp>
        <p:nvSpPr>
          <p:cNvPr id="377" name="Google Shape;377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To strengthen your understanding, </a:t>
            </a:r>
            <a:r>
              <a:rPr lang="en-US">
                <a:solidFill>
                  <a:schemeClr val="accent4"/>
                </a:solidFill>
              </a:rPr>
              <a:t>practice problems that combine sorting and tuples</a:t>
            </a:r>
            <a:r>
              <a:rPr lang="en-US"/>
              <a:t>, because these topics often appear together when you are working with structured records like names and scores.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Sort records by one or more fields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Use tuples to represent a record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Sorting and Tuple Exercise</a:t>
            </a:r>
            <a:endParaRPr/>
          </a:p>
        </p:txBody>
      </p:sp>
      <p:sp>
        <p:nvSpPr>
          <p:cNvPr id="383" name="Google Shape;383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l</a:t>
            </a:r>
            <a:r>
              <a:rPr lang="en-US">
                <a:solidFill>
                  <a:schemeClr val="accent4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ist1.py</a:t>
            </a:r>
            <a:endParaRPr>
              <a:solidFill>
                <a:schemeClr val="accent4"/>
              </a:solidFill>
            </a:endParaRPr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Clr>
                <a:srgbClr val="33BD80"/>
              </a:buClr>
              <a:buSzPts val="1800"/>
              <a:buChar char="●"/>
            </a:pPr>
            <a:r>
              <a:rPr lang="en-US">
                <a:solidFill>
                  <a:srgbClr val="33BD80"/>
                </a:solidFill>
              </a:rPr>
              <a:t>front_x   </a:t>
            </a:r>
            <a:r>
              <a:rPr lang="en-US">
                <a:solidFill>
                  <a:srgbClr val="FF00FF"/>
                </a:solidFill>
              </a:rPr>
              <a:t>(Hint: Use List comprehension)</a:t>
            </a:r>
            <a:endParaRPr>
              <a:solidFill>
                <a:srgbClr val="FF00FF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33BD80"/>
              </a:buClr>
              <a:buSzPts val="1800"/>
              <a:buChar char="●"/>
            </a:pPr>
            <a:r>
              <a:rPr lang="en-US">
                <a:solidFill>
                  <a:srgbClr val="33BD80"/>
                </a:solidFill>
              </a:rPr>
              <a:t>sort_last </a:t>
            </a:r>
            <a:r>
              <a:rPr lang="en-US">
                <a:solidFill>
                  <a:srgbClr val="FF00FF"/>
                </a:solidFill>
              </a:rPr>
              <a:t>(Try the lambda function trick)</a:t>
            </a:r>
            <a:endParaRPr>
              <a:solidFill>
                <a:srgbClr val="FF00FF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BD8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sorted() </a:t>
            </a:r>
            <a:r>
              <a:rPr lang="en-US"/>
              <a:t>returns a new 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sort() </a:t>
            </a:r>
            <a:r>
              <a:rPr lang="en-US"/>
              <a:t>changes the list and returns None</a:t>
            </a:r>
            <a:endParaRPr/>
          </a:p>
        </p:txBody>
      </p:sp>
      <p:sp>
        <p:nvSpPr>
          <p:cNvPr id="384" name="Google Shape;384;p65"/>
          <p:cNvSpPr txBox="1"/>
          <p:nvPr/>
        </p:nvSpPr>
        <p:spPr>
          <a:xfrm>
            <a:off x="5306775" y="358750"/>
            <a:ext cx="352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Remember in micro you can use trackpad to scroll up and down</a:t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front_x (two loops using list comprehension)</a:t>
            </a:r>
            <a:endParaRPr/>
          </a:p>
        </p:txBody>
      </p:sp>
      <p:pic>
        <p:nvPicPr>
          <p:cNvPr id="390" name="Google Shape;390;p66" title="Screenshot 2026-02-05 at 11.01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550" y="3781800"/>
            <a:ext cx="5152499" cy="124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66"/>
          <p:cNvSpPr txBox="1"/>
          <p:nvPr/>
        </p:nvSpPr>
        <p:spPr>
          <a:xfrm>
            <a:off x="445325" y="1017725"/>
            <a:ext cx="712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What’s wrong with this code? (returns error)</a:t>
            </a:r>
            <a:endParaRPr sz="1800">
              <a:solidFill>
                <a:srgbClr val="FF0000"/>
              </a:solidFill>
            </a:endParaRPr>
          </a:p>
        </p:txBody>
      </p:sp>
      <p:pic>
        <p:nvPicPr>
          <p:cNvPr id="392" name="Google Shape;392;p66" title="Screenshot 2026-02-05 at 11.03.5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875" y="1539388"/>
            <a:ext cx="6112752" cy="1374388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66"/>
          <p:cNvSpPr txBox="1"/>
          <p:nvPr/>
        </p:nvSpPr>
        <p:spPr>
          <a:xfrm>
            <a:off x="445325" y="2973750"/>
            <a:ext cx="376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</a:rPr>
              <a:t>remember list.sort() returns None</a:t>
            </a:r>
            <a:endParaRPr sz="1800">
              <a:solidFill>
                <a:schemeClr val="accent5"/>
              </a:solidFill>
            </a:endParaRPr>
          </a:p>
        </p:txBody>
      </p:sp>
      <p:pic>
        <p:nvPicPr>
          <p:cNvPr id="394" name="Google Shape;394;p66" title="Screenshot 2026-02-05 at 11.06.08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0325" y="3089872"/>
            <a:ext cx="4527076" cy="100040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66"/>
          <p:cNvSpPr txBox="1"/>
          <p:nvPr/>
        </p:nvSpPr>
        <p:spPr>
          <a:xfrm>
            <a:off x="482425" y="3414150"/>
            <a:ext cx="712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How you would fix using list.sort()?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96" name="Google Shape;396;p66"/>
          <p:cNvSpPr txBox="1"/>
          <p:nvPr/>
        </p:nvSpPr>
        <p:spPr>
          <a:xfrm>
            <a:off x="5690250" y="4193475"/>
            <a:ext cx="283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Note: This is inefficiently using two loops…</a:t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front_x (single loop)</a:t>
            </a:r>
            <a:endParaRPr/>
          </a:p>
        </p:txBody>
      </p:sp>
      <p:pic>
        <p:nvPicPr>
          <p:cNvPr id="402" name="Google Shape;402;p67" title="Screenshot 2026-02-05 at 11.31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100" y="1238075"/>
            <a:ext cx="4300225" cy="239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67"/>
          <p:cNvSpPr txBox="1"/>
          <p:nvPr/>
        </p:nvSpPr>
        <p:spPr>
          <a:xfrm>
            <a:off x="5764475" y="1707075"/>
            <a:ext cx="340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more efficient single loop</a:t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sort_last</a:t>
            </a:r>
            <a:endParaRPr/>
          </a:p>
        </p:txBody>
      </p:sp>
      <p:pic>
        <p:nvPicPr>
          <p:cNvPr id="409" name="Google Shape;409;p68" title="Screenshot 2026-02-05 at 11.18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525" y="3741481"/>
            <a:ext cx="5137700" cy="9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68"/>
          <p:cNvSpPr txBox="1"/>
          <p:nvPr/>
        </p:nvSpPr>
        <p:spPr>
          <a:xfrm>
            <a:off x="701000" y="1047875"/>
            <a:ext cx="712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using lambda:</a:t>
            </a:r>
            <a:endParaRPr sz="1800">
              <a:solidFill>
                <a:schemeClr val="accent4"/>
              </a:solidFill>
            </a:endParaRPr>
          </a:p>
        </p:txBody>
      </p:sp>
      <p:pic>
        <p:nvPicPr>
          <p:cNvPr id="411" name="Google Shape;411;p68" title="Screenshot 2026-02-05 at 11.20.3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513" y="1539725"/>
            <a:ext cx="5030675" cy="901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68"/>
          <p:cNvSpPr txBox="1"/>
          <p:nvPr/>
        </p:nvSpPr>
        <p:spPr>
          <a:xfrm>
            <a:off x="701000" y="2671950"/>
            <a:ext cx="430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is there another way to do this?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413" name="Google Shape;413;p68"/>
          <p:cNvSpPr txBox="1"/>
          <p:nvPr/>
        </p:nvSpPr>
        <p:spPr>
          <a:xfrm>
            <a:off x="878275" y="3290450"/>
            <a:ext cx="712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use itemgetter!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list2.py: </a:t>
            </a:r>
            <a:r>
              <a:rPr lang="en-US">
                <a:solidFill>
                  <a:srgbClr val="33BD80"/>
                </a:solidFill>
              </a:rPr>
              <a:t>linear_merge</a:t>
            </a:r>
            <a:endParaRPr>
              <a:solidFill>
                <a:srgbClr val="33BD80"/>
              </a:solidFill>
            </a:endParaRPr>
          </a:p>
        </p:txBody>
      </p:sp>
      <p:pic>
        <p:nvPicPr>
          <p:cNvPr id="419" name="Google Shape;419;p69" title="Screenshot 2026-02-04 at 9.34.25 PM.png"/>
          <p:cNvPicPr preferRelativeResize="0"/>
          <p:nvPr/>
        </p:nvPicPr>
        <p:blipFill rotWithShape="1">
          <a:blip r:embed="rId3">
            <a:alphaModFix/>
          </a:blip>
          <a:srcRect b="43384" l="0" r="0" t="0"/>
          <a:stretch/>
        </p:blipFill>
        <p:spPr>
          <a:xfrm>
            <a:off x="244900" y="1017725"/>
            <a:ext cx="6585024" cy="196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69" title="Screenshot 2026-02-04 at 9.36.3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5000" y="2362725"/>
            <a:ext cx="5364500" cy="2554175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1" name="Google Shape;421;p69"/>
          <p:cNvSpPr txBox="1"/>
          <p:nvPr/>
        </p:nvSpPr>
        <p:spPr>
          <a:xfrm>
            <a:off x="160825" y="3080150"/>
            <a:ext cx="30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422" name="Google Shape;422;p69"/>
          <p:cNvSpPr/>
          <p:nvPr/>
        </p:nvSpPr>
        <p:spPr>
          <a:xfrm>
            <a:off x="371100" y="2820400"/>
            <a:ext cx="2647200" cy="1608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3" name="Google Shape;423;p69"/>
          <p:cNvCxnSpPr>
            <a:stCxn id="422" idx="3"/>
            <a:endCxn id="420" idx="1"/>
          </p:cNvCxnSpPr>
          <p:nvPr/>
        </p:nvCxnSpPr>
        <p:spPr>
          <a:xfrm>
            <a:off x="3018300" y="2900800"/>
            <a:ext cx="696600" cy="7389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69"/>
          <p:cNvSpPr txBox="1"/>
          <p:nvPr/>
        </p:nvSpPr>
        <p:spPr>
          <a:xfrm>
            <a:off x="432950" y="3240975"/>
            <a:ext cx="712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425" name="Google Shape;425;p69"/>
          <p:cNvSpPr txBox="1"/>
          <p:nvPr/>
        </p:nvSpPr>
        <p:spPr>
          <a:xfrm>
            <a:off x="160825" y="3240975"/>
            <a:ext cx="3315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if first element of list 1 is greater than first element of list 2, add that element to new list; otherwise add the other element.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Add the remaining elements from both lists.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Solution to linear_merge</a:t>
            </a:r>
            <a:endParaRPr/>
          </a:p>
        </p:txBody>
      </p:sp>
      <p:pic>
        <p:nvPicPr>
          <p:cNvPr id="431" name="Google Shape;431;p70" title="Screenshot 2026-02-04 at 9.42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750" y="1094200"/>
            <a:ext cx="6546874" cy="371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