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5143500" cx="9144000"/>
  <p:notesSz cx="6858000" cy="9144000"/>
  <p:embeddedFontLst>
    <p:embeddedFont>
      <p:font typeface="Roboto"/>
      <p:regular r:id="rId67"/>
      <p:bold r:id="rId68"/>
      <p:italic r:id="rId69"/>
      <p:boldItalic r:id="rId70"/>
    </p:embeddedFont>
    <p:embeddedFont>
      <p:font typeface="Poppins"/>
      <p:regular r:id="rId71"/>
      <p:bold r:id="rId72"/>
      <p:italic r:id="rId73"/>
      <p:boldItalic r:id="rId74"/>
    </p:embeddedFont>
    <p:embeddedFont>
      <p:font typeface="Helvetica Neue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Poppins-italic.fntdata"/><Relationship Id="rId72" Type="http://schemas.openxmlformats.org/officeDocument/2006/relationships/font" Target="fonts/Poppins-bold.fntdata"/><Relationship Id="rId31" Type="http://schemas.openxmlformats.org/officeDocument/2006/relationships/slide" Target="slides/slide26.xml"/><Relationship Id="rId75" Type="http://schemas.openxmlformats.org/officeDocument/2006/relationships/font" Target="fonts/HelveticaNeue-regular.fntdata"/><Relationship Id="rId30" Type="http://schemas.openxmlformats.org/officeDocument/2006/relationships/slide" Target="slides/slide25.xml"/><Relationship Id="rId74" Type="http://schemas.openxmlformats.org/officeDocument/2006/relationships/font" Target="fonts/Poppins-boldItalic.fntdata"/><Relationship Id="rId33" Type="http://schemas.openxmlformats.org/officeDocument/2006/relationships/slide" Target="slides/slide28.xml"/><Relationship Id="rId77" Type="http://schemas.openxmlformats.org/officeDocument/2006/relationships/font" Target="fonts/HelveticaNeue-italic.fntdata"/><Relationship Id="rId32" Type="http://schemas.openxmlformats.org/officeDocument/2006/relationships/slide" Target="slides/slide27.xml"/><Relationship Id="rId76" Type="http://schemas.openxmlformats.org/officeDocument/2006/relationships/font" Target="fonts/HelveticaNeue-bold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schemas.openxmlformats.org/officeDocument/2006/relationships/font" Target="fonts/HelveticaNeue-boldItalic.fntdata"/><Relationship Id="rId71" Type="http://schemas.openxmlformats.org/officeDocument/2006/relationships/font" Target="fonts/Poppins-regular.fntdata"/><Relationship Id="rId70" Type="http://schemas.openxmlformats.org/officeDocument/2006/relationships/font" Target="fonts/Robot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Roboto-bold.fntdata"/><Relationship Id="rId23" Type="http://schemas.openxmlformats.org/officeDocument/2006/relationships/slide" Target="slides/slide18.xml"/><Relationship Id="rId67" Type="http://schemas.openxmlformats.org/officeDocument/2006/relationships/font" Target="fonts/Roboto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7443199ae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7443199ae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slide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slide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7443199ae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7443199ae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slide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slide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7443199ae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7443199ae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7443199ae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7443199ae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slide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slide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7443199ae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7443199ae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slide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slide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slide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slide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slide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slide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slide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slide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slide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slide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7443199ae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7443199ae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slide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slide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slide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slide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slide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slide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72448f9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a72448f9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a72448f9a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a72448f9a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a72448f9a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a72448f9a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a72448f9a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a72448f9a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7443199ae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7443199ae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slide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slide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slide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slide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a72448f9a_2_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a72448f9a_2_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a72448f9a_2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a72448f9a_2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a72448f9a_2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a72448f9a_2_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7443199ae_0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7443199ae_0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7443199ae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7443199ae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slide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slide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7443199ae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7443199ae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7443199ae_0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7443199ae_0_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slide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slide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slide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slide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slide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slide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7443199ae_0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b7443199ae_0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slide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slide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slide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slide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slide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slide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slide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slide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a72448f9a_2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ba72448f9a_2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a72448f9a_2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ba72448f9a_2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a72448f9a_2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a72448f9a_2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a72448f9a_2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a72448f9a_2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a72448f9a_2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a72448f9a_2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7443199ae_0_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7443199ae_0_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a72448f9a_2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ba72448f9a_2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a72448f9a_2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ba72448f9a_2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a72448f9a_2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a72448f9a_2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a72448f9a_2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ba72448f9a_2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a72448f9a_2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a72448f9a_2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a72448f9a_2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ba72448f9a_2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slide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slide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c0db0b8de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bc0db0b8de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cf6a6aa55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bcf6a6aa55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cf6a6aa55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cf6a6aa55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08be09029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a08be09029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-11200" y="0"/>
            <a:ext cx="9144000" cy="5143500"/>
          </a:xfrm>
          <a:prstGeom prst="rect">
            <a:avLst/>
          </a:prstGeom>
          <a:solidFill>
            <a:srgbClr val="49A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BD80"/>
              </a:solidFill>
            </a:endParaRPr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oppins"/>
              <a:buNone/>
              <a:defRPr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://list1.py" TargetMode="External"/><Relationship Id="rId4" Type="http://schemas.openxmlformats.org/officeDocument/2006/relationships/hyperlink" Target="http://list2.py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9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Lists and Looping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Lists: Python’s Built-In Collection Type</a:t>
            </a:r>
            <a:endParaRPr sz="2520"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 Python list is a built-in container that holds an ordered sequence of items, and list literals are written using square brackets with items separated by commas.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5"/>
                </a:solidFill>
              </a:rPr>
              <a:t>['red', 'blue', 'green']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Lists can store strings, numbers, or mixed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Last element: index </a:t>
            </a:r>
            <a:r>
              <a:rPr lang="en-US">
                <a:solidFill>
                  <a:schemeClr val="accent5"/>
                </a:solidFill>
              </a:rPr>
              <a:t>len(list) - 1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behave like Strings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Lists behave like strings in several useful ways, including supporting the len() function and using square brackets with an index to access a specific element.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len(list)</a:t>
            </a:r>
            <a:r>
              <a:rPr lang="en-US"/>
              <a:t> returns the number of elements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Indexing uses </a:t>
            </a:r>
            <a:r>
              <a:rPr lang="en-US">
                <a:solidFill>
                  <a:schemeClr val="accent5"/>
                </a:solidFill>
              </a:rPr>
              <a:t>list[index]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List indexing starts at zero, meaning the first element is at index 0, the second element is at index 1, and so on as you move right.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First element: index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Last element: index len(list)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Creating a list, indexing, and using len()</a:t>
            </a:r>
            <a:endParaRPr sz="2520"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colors = ['red', 'blue', 'green']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print(colors[0])    ## red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print(colors[2])    ## green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print(len(colors))  ## 3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625" y="3302400"/>
            <a:ext cx="5943600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Assignment Does Not Copy a List</a:t>
            </a:r>
            <a:endParaRPr sz="2520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Using the equals sign to assign one list variable to another does not create a separate copy, so both variables point to the same list in memory.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Changing one name changes the shared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This is sometimes called aliasing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aliases are edited when you edit the list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Because both variables refer to the same underlying list, later edits like </a:t>
            </a:r>
            <a:r>
              <a:rPr lang="en-US">
                <a:solidFill>
                  <a:schemeClr val="accent5"/>
                </a:solidFill>
              </a:rPr>
              <a:t>append()</a:t>
            </a:r>
            <a:r>
              <a:rPr lang="en-US"/>
              <a:t> or </a:t>
            </a:r>
            <a:r>
              <a:rPr lang="en-US">
                <a:solidFill>
                  <a:schemeClr val="accent5"/>
                </a:solidFill>
              </a:rPr>
              <a:t>remove()</a:t>
            </a:r>
            <a:r>
              <a:rPr lang="en-US"/>
              <a:t> will be visible through either variable name.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This can be surprising during debugging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When you truly need an independent list, you must explicitly create a copy using a list-copying technique rather than relying on simple assignment.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Examples include slicing or copy methods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Assigning a second variable to the same list</a:t>
            </a:r>
            <a:endParaRPr sz="2520"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b = colors   ## Does not copy the list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775" y="2403475"/>
            <a:ext cx="59436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do an actual copy*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original = [1, 2, 3]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new_list = original.copy()  ## uses copy function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new_list2 = original[:]  ## uses slice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new_list3 = list(original) ## uses list constructor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* These are </a:t>
            </a:r>
            <a:r>
              <a:rPr i="1" lang="en-US">
                <a:solidFill>
                  <a:schemeClr val="dk1"/>
                </a:solidFill>
              </a:rPr>
              <a:t>“shallow copies”</a:t>
            </a:r>
            <a:r>
              <a:rPr lang="en-US">
                <a:solidFill>
                  <a:schemeClr val="dk1"/>
                </a:solidFill>
              </a:rPr>
              <a:t>: if the list is nested, it does not copy the inner lists.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Empty Lists and Combining Lists with </a:t>
            </a:r>
            <a:r>
              <a:rPr lang="en-US" sz="2520">
                <a:solidFill>
                  <a:schemeClr val="accent5"/>
                </a:solidFill>
              </a:rPr>
              <a:t>+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An empty list is written as an empty pair of brackets, and it is commonly used as a starting point when you plan to build up a list over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Empty list literal: </a:t>
            </a:r>
            <a:r>
              <a:rPr lang="en-US">
                <a:solidFill>
                  <a:schemeClr val="accent5"/>
                </a:solidFill>
              </a:rPr>
              <a:t>[]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The plus operator can combine two lists by creating a new list that contains the elements of the left list followed by the elements of the right list.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[1, 2] + [3, 4] </a:t>
            </a:r>
            <a:r>
              <a:rPr lang="en-US"/>
              <a:t>becomes </a:t>
            </a:r>
            <a:r>
              <a:rPr lang="en-US">
                <a:solidFill>
                  <a:schemeClr val="accent5"/>
                </a:solidFill>
              </a:rPr>
              <a:t>[1, 2, 3, 4]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• List concatenation with </a:t>
            </a:r>
            <a:r>
              <a:rPr lang="en-US">
                <a:solidFill>
                  <a:schemeClr val="accent5"/>
                </a:solidFill>
              </a:rPr>
              <a:t>+</a:t>
            </a:r>
            <a:r>
              <a:rPr lang="en-US"/>
              <a:t> is similar to string concatenation, but it operates on whole elements rather than characters and preserves the order of both inputs.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Looping: </a:t>
            </a:r>
            <a:r>
              <a:rPr lang="en-US">
                <a:solidFill>
                  <a:schemeClr val="accent5"/>
                </a:solidFill>
              </a:rPr>
              <a:t>for/in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>
                <a:solidFill>
                  <a:schemeClr val="accent5"/>
                </a:solidFill>
              </a:rPr>
              <a:t>for </a:t>
            </a:r>
            <a:r>
              <a:rPr lang="en-US" sz="2520"/>
              <a:t>and </a:t>
            </a:r>
            <a:r>
              <a:rPr lang="en-US" sz="2520">
                <a:solidFill>
                  <a:schemeClr val="accent5"/>
                </a:solidFill>
              </a:rPr>
              <a:t>in</a:t>
            </a:r>
            <a:r>
              <a:rPr lang="en-US" sz="2520"/>
              <a:t>: Looping Through Every Element</a:t>
            </a:r>
            <a:endParaRPr sz="2520"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 for loop written as for var in list is the standard Python way to visit each element in a list without manually tracking index numbers.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Pattern: </a:t>
            </a:r>
            <a:r>
              <a:rPr lang="en-US">
                <a:solidFill>
                  <a:schemeClr val="accent5"/>
                </a:solidFill>
              </a:rPr>
              <a:t>for item in collection: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Inside the loop, the loop variable holds one element at a time, which makes it easy to read values, calculate totals, or build new results.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Common tasks: summing, filtering, printing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You should not add or remove elements from the list you are iterating over, because changing the list during iteration can produce confusing or incorrect behavior.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Instead, build a new list or loop over a copy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Summing numbers with for/in</a:t>
            </a:r>
            <a:endParaRPr sz="2520"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squares = [1, 4, 9, 16]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sum = 0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for num in squares: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  sum </a:t>
            </a:r>
            <a:r>
              <a:rPr lang="en-US">
                <a:solidFill>
                  <a:schemeClr val="accent4"/>
                </a:solidFill>
              </a:rPr>
              <a:t>+= </a:t>
            </a:r>
            <a:r>
              <a:rPr lang="en-US">
                <a:solidFill>
                  <a:schemeClr val="accent5"/>
                </a:solidFill>
              </a:rPr>
              <a:t>num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print(sum)  ## 30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3364300" y="2202300"/>
            <a:ext cx="577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accent4"/>
                </a:solidFill>
              </a:rPr>
              <a:t>+= </a:t>
            </a:r>
            <a:r>
              <a:rPr lang="en-US" sz="1800">
                <a:solidFill>
                  <a:srgbClr val="FF0000"/>
                </a:solidFill>
              </a:rPr>
              <a:t>is shorthand for </a:t>
            </a:r>
            <a:r>
              <a:rPr lang="en-US" sz="1800">
                <a:solidFill>
                  <a:schemeClr val="accent4"/>
                </a:solidFill>
              </a:rPr>
              <a:t>sum = sum + num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e.g. if you have </a:t>
            </a:r>
            <a:r>
              <a:rPr lang="en-US" sz="1800">
                <a:solidFill>
                  <a:schemeClr val="accent4"/>
                </a:solidFill>
              </a:rPr>
              <a:t>sum += 1</a:t>
            </a:r>
            <a:r>
              <a:rPr lang="en-US" sz="1800">
                <a:solidFill>
                  <a:srgbClr val="FF0000"/>
                </a:solidFill>
              </a:rPr>
              <a:t>, that means </a:t>
            </a:r>
            <a:r>
              <a:rPr lang="en-US" sz="1800">
                <a:solidFill>
                  <a:schemeClr val="accent4"/>
                </a:solidFill>
              </a:rPr>
              <a:t>sum = sum + 1</a:t>
            </a:r>
            <a:endParaRPr sz="1800">
              <a:solidFill>
                <a:schemeClr val="accent4"/>
              </a:solidFill>
            </a:endParaRPr>
          </a:p>
        </p:txBody>
      </p:sp>
      <p:cxnSp>
        <p:nvCxnSpPr>
          <p:cNvPr id="140" name="Google Shape;140;p27"/>
          <p:cNvCxnSpPr>
            <a:stCxn id="139" idx="1"/>
          </p:cNvCxnSpPr>
          <p:nvPr/>
        </p:nvCxnSpPr>
        <p:spPr>
          <a:xfrm flipH="1">
            <a:off x="2054200" y="2571750"/>
            <a:ext cx="1310100" cy="177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Choosing Clear Loop Variable Names</a:t>
            </a:r>
            <a:endParaRPr sz="2520"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When you know what kind of value a list contains, choose loop variable names that reflect that meaning, because descriptive names help you understand code without extra type syntax.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Examples: </a:t>
            </a:r>
            <a:r>
              <a:rPr lang="en-US">
                <a:solidFill>
                  <a:schemeClr val="accent5"/>
                </a:solidFill>
              </a:rPr>
              <a:t>num, name, url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Python does not require explicit types in everyday code, so names become an important clue that explains what each value represents and how it should be used.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You may later see </a:t>
            </a:r>
            <a:r>
              <a:rPr lang="en-US">
                <a:solidFill>
                  <a:schemeClr val="accent4"/>
                </a:solidFill>
              </a:rPr>
              <a:t>type hints</a:t>
            </a:r>
            <a:r>
              <a:rPr lang="en-US"/>
              <a:t> in Python, which allow you to annotate function inputs and outputs for tools like IDEs and static analysis tools like linters, but Python does not enforce them at runtime.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Not used to execute the program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US" sz="2520">
                <a:solidFill>
                  <a:schemeClr val="accent5"/>
                </a:solidFill>
              </a:rPr>
              <a:t>in</a:t>
            </a:r>
            <a:r>
              <a:rPr lang="en-US" sz="2520"/>
              <a:t> as a Membership Test (True/False)</a:t>
            </a:r>
            <a:endParaRPr sz="2520"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The </a:t>
            </a:r>
            <a:r>
              <a:rPr lang="en-US">
                <a:solidFill>
                  <a:schemeClr val="accent5"/>
                </a:solidFill>
              </a:rPr>
              <a:t>in</a:t>
            </a:r>
            <a:r>
              <a:rPr lang="en-US"/>
              <a:t> keyword can be used outside a loop to test membership, where value in collection evaluates to True if the value appears in the collection.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Result is a Boolean: True or False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This membership test works on lists and other collections, and it is often used in an if statement to run code only when an item exists.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Pattern: </a:t>
            </a:r>
            <a:r>
              <a:rPr lang="en-US">
                <a:solidFill>
                  <a:schemeClr val="accent5"/>
                </a:solidFill>
              </a:rPr>
              <a:t>if item in items: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• It is useful to memorize </a:t>
            </a:r>
            <a:r>
              <a:rPr lang="en-US">
                <a:solidFill>
                  <a:schemeClr val="accent5"/>
                </a:solidFill>
              </a:rPr>
              <a:t>for/in</a:t>
            </a:r>
            <a:r>
              <a:rPr lang="en-US"/>
              <a:t> syntax because it is the idiomatic Python approach, and it often replaces manual index-based iteration habits from other languages.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Testing membership with </a:t>
            </a:r>
            <a:r>
              <a:rPr lang="en-US" sz="2520">
                <a:solidFill>
                  <a:schemeClr val="accent5"/>
                </a:solidFill>
              </a:rPr>
              <a:t>in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list = ['larry', 'curly', 'moe']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if 'curly' in list: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  print('yay') ## yay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Using </a:t>
            </a:r>
            <a:r>
              <a:rPr lang="en-US" sz="2520">
                <a:solidFill>
                  <a:schemeClr val="accent5"/>
                </a:solidFill>
              </a:rPr>
              <a:t>for/in</a:t>
            </a:r>
            <a:r>
              <a:rPr lang="en-US" sz="2520"/>
              <a:t> with Strings</a:t>
            </a:r>
            <a:endParaRPr sz="2520"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 string can be iterated with </a:t>
            </a:r>
            <a:r>
              <a:rPr lang="en-US">
                <a:solidFill>
                  <a:schemeClr val="accent5"/>
                </a:solidFill>
              </a:rPr>
              <a:t>for/in</a:t>
            </a:r>
            <a:r>
              <a:rPr lang="en-US"/>
              <a:t> just like a list, because Python lets you treat a string as a sequence of its individual characters.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Pattern: </a:t>
            </a:r>
            <a:r>
              <a:rPr lang="en-US">
                <a:solidFill>
                  <a:schemeClr val="accent5"/>
                </a:solidFill>
              </a:rPr>
              <a:t>for ch in s: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               print(ch)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When you loop through a string, each iteration gives you a single-character string, which is useful for tasks like counting letters or validating characters.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Each </a:t>
            </a:r>
            <a:r>
              <a:rPr lang="en-US">
                <a:solidFill>
                  <a:schemeClr val="accent5"/>
                </a:solidFill>
              </a:rPr>
              <a:t>ch</a:t>
            </a:r>
            <a:r>
              <a:rPr lang="en-US"/>
              <a:t> is a one-character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• Using </a:t>
            </a:r>
            <a:r>
              <a:rPr lang="en-US">
                <a:solidFill>
                  <a:schemeClr val="accent5"/>
                </a:solidFill>
              </a:rPr>
              <a:t>for/in</a:t>
            </a:r>
            <a:r>
              <a:rPr lang="en-US"/>
              <a:t> on strings keeps the code simple and readable, and it avoids needing to manually compute indexes unless you truly require numeric positions.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Range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>
                <a:solidFill>
                  <a:schemeClr val="accent5"/>
                </a:solidFill>
              </a:rPr>
              <a:t>range()</a:t>
            </a:r>
            <a:r>
              <a:rPr lang="en-US" sz="2520"/>
              <a:t>: Generating Counting Numbers for Loops</a:t>
            </a:r>
            <a:endParaRPr sz="2520"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The </a:t>
            </a:r>
            <a:r>
              <a:rPr lang="en-US">
                <a:solidFill>
                  <a:schemeClr val="accent5"/>
                </a:solidFill>
              </a:rPr>
              <a:t>range(n)</a:t>
            </a:r>
            <a:r>
              <a:rPr lang="en-US"/>
              <a:t> function produces a sequence of numbers starting at 0 and ending at n minus 1, which is a common pattern for repeated actions.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range(5)</a:t>
            </a:r>
            <a:r>
              <a:rPr lang="en-US"/>
              <a:t> yields 0, 1, 2, 3,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The form </a:t>
            </a:r>
            <a:r>
              <a:rPr lang="en-US">
                <a:solidFill>
                  <a:schemeClr val="accent5"/>
                </a:solidFill>
              </a:rPr>
              <a:t>range(a, b)</a:t>
            </a:r>
            <a:r>
              <a:rPr lang="en-US"/>
              <a:t> starts at a and counts upward to b minus 1, which supports loops that begin at a non-zero starting value.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range(3, 6)</a:t>
            </a:r>
            <a:r>
              <a:rPr lang="en-US"/>
              <a:t> yields 3, 4,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Combining </a:t>
            </a:r>
            <a:r>
              <a:rPr lang="en-US">
                <a:solidFill>
                  <a:schemeClr val="accent5"/>
                </a:solidFill>
              </a:rPr>
              <a:t>for </a:t>
            </a:r>
            <a:r>
              <a:rPr lang="en-US"/>
              <a:t>with </a:t>
            </a:r>
            <a:r>
              <a:rPr lang="en-US">
                <a:solidFill>
                  <a:schemeClr val="accent5"/>
                </a:solidFill>
              </a:rPr>
              <a:t>range() </a:t>
            </a:r>
            <a:r>
              <a:rPr lang="en-US"/>
              <a:t>creates a traditional numeric loop, where the loop variable is an integer counter rather than an element from a list.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Pattern: </a:t>
            </a:r>
            <a:r>
              <a:rPr lang="en-US">
                <a:solidFill>
                  <a:schemeClr val="accent5"/>
                </a:solidFill>
              </a:rPr>
              <a:t>for i in range(...):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Printing numbers with </a:t>
            </a:r>
            <a:r>
              <a:rPr lang="en-US" sz="2520">
                <a:solidFill>
                  <a:schemeClr val="accent5"/>
                </a:solidFill>
              </a:rPr>
              <a:t>range()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 </a:t>
            </a:r>
            <a:r>
              <a:rPr lang="en-US">
                <a:solidFill>
                  <a:schemeClr val="accent5"/>
                </a:solidFill>
              </a:rPr>
              <a:t>## print the numbers from 0 through 99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for i in range(100):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  print(i)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Performance Note: </a:t>
            </a:r>
            <a:r>
              <a:rPr lang="en-US" sz="2520">
                <a:solidFill>
                  <a:schemeClr val="accent5"/>
                </a:solidFill>
              </a:rPr>
              <a:t>xrange()</a:t>
            </a:r>
            <a:r>
              <a:rPr lang="en-US" sz="2520"/>
              <a:t> vs </a:t>
            </a:r>
            <a:r>
              <a:rPr lang="en-US" sz="2520">
                <a:solidFill>
                  <a:schemeClr val="accent5"/>
                </a:solidFill>
              </a:rPr>
              <a:t>range()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In older Python versions, </a:t>
            </a:r>
            <a:r>
              <a:rPr lang="en-US">
                <a:solidFill>
                  <a:schemeClr val="accent5"/>
                </a:solidFill>
              </a:rPr>
              <a:t>xrange() </a:t>
            </a:r>
            <a:r>
              <a:rPr lang="en-US"/>
              <a:t>was a variant designed to avoid building a full list of numbers in memory, which could matter in performance-sensitive loops.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Relevant historically in Python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In Python 3, </a:t>
            </a:r>
            <a:r>
              <a:rPr lang="en-US">
                <a:solidFill>
                  <a:schemeClr val="accent5"/>
                </a:solidFill>
              </a:rPr>
              <a:t>range()</a:t>
            </a:r>
            <a:r>
              <a:rPr lang="en-US"/>
              <a:t> already has the efficient behavior, so you can typically use </a:t>
            </a:r>
            <a:r>
              <a:rPr lang="en-US">
                <a:solidFill>
                  <a:schemeClr val="accent5"/>
                </a:solidFill>
              </a:rPr>
              <a:t>range() </a:t>
            </a:r>
            <a:r>
              <a:rPr lang="en-US"/>
              <a:t>everywhere and not worry about an </a:t>
            </a:r>
            <a:r>
              <a:rPr lang="en-US">
                <a:solidFill>
                  <a:schemeClr val="accent5"/>
                </a:solidFill>
              </a:rPr>
              <a:t>xrange() </a:t>
            </a:r>
            <a:r>
              <a:rPr lang="en-US"/>
              <a:t>alternative.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Python 3: </a:t>
            </a:r>
            <a:r>
              <a:rPr lang="en-US">
                <a:solidFill>
                  <a:schemeClr val="accent5"/>
                </a:solidFill>
              </a:rPr>
              <a:t>range()</a:t>
            </a:r>
            <a:r>
              <a:rPr lang="en-US"/>
              <a:t> is efficient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• Even when performance matters, it is better to understand the behavior conceptually—range supplies a sequence for looping—rather than assuming it is a normal list.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For/in and Range Exercises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1</a:t>
            </a:r>
            <a:endParaRPr/>
          </a:p>
        </p:txBody>
      </p:sp>
      <p:pic>
        <p:nvPicPr>
          <p:cNvPr id="198" name="Google Shape;198;p37" title="Screenshot 2026-01-15 at 10.30.3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13"/>
            <a:ext cx="8520600" cy="2168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7" title="Screenshot 2026-01-15 at 10.33.2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813" y="3375025"/>
            <a:ext cx="6828365" cy="16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2</a:t>
            </a:r>
            <a:endParaRPr/>
          </a:p>
        </p:txBody>
      </p:sp>
      <p:pic>
        <p:nvPicPr>
          <p:cNvPr id="205" name="Google Shape;205;p38" title="Screenshot 2026-01-15 at 10.35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75" y="1076250"/>
            <a:ext cx="8469323" cy="19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8" title="Screenshot 2026-01-15 at 10.35.4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0750" y="3149450"/>
            <a:ext cx="5838819" cy="18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3</a:t>
            </a:r>
            <a:endParaRPr/>
          </a:p>
        </p:txBody>
      </p:sp>
      <p:pic>
        <p:nvPicPr>
          <p:cNvPr id="212" name="Google Shape;212;p39" title="Screenshot 2026-01-15 at 10.36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00" y="1017725"/>
            <a:ext cx="8933598" cy="22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9" title="Screenshot 2026-01-15 at 10.37.2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4875" y="3108625"/>
            <a:ext cx="5799399" cy="20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while</a:t>
            </a:r>
            <a:r>
              <a:rPr lang="en-US"/>
              <a:t> Loops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>
                <a:solidFill>
                  <a:schemeClr val="accent5"/>
                </a:solidFill>
              </a:rPr>
              <a:t>while</a:t>
            </a:r>
            <a:r>
              <a:rPr lang="en-US" sz="2520"/>
              <a:t> Loops, </a:t>
            </a:r>
            <a:r>
              <a:rPr lang="en-US" sz="2520">
                <a:solidFill>
                  <a:schemeClr val="accent5"/>
                </a:solidFill>
              </a:rPr>
              <a:t>break,</a:t>
            </a:r>
            <a:r>
              <a:rPr lang="en-US" sz="2520"/>
              <a:t> and </a:t>
            </a:r>
            <a:r>
              <a:rPr lang="en-US" sz="2520">
                <a:solidFill>
                  <a:schemeClr val="accent5"/>
                </a:solidFill>
              </a:rPr>
              <a:t>continue</a:t>
            </a:r>
            <a:endParaRPr sz="2520">
              <a:solidFill>
                <a:schemeClr val="accent5"/>
              </a:solidFill>
            </a:endParaRPr>
          </a:p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Python includes a </a:t>
            </a:r>
            <a:r>
              <a:rPr lang="en-US">
                <a:solidFill>
                  <a:schemeClr val="accent5"/>
                </a:solidFill>
              </a:rPr>
              <a:t>while </a:t>
            </a:r>
            <a:r>
              <a:rPr lang="en-US"/>
              <a:t>loop for cases where you need total control over loop conditions, and it </a:t>
            </a:r>
            <a:r>
              <a:rPr lang="en-US">
                <a:solidFill>
                  <a:schemeClr val="accent4"/>
                </a:solidFill>
              </a:rPr>
              <a:t>repeats as long as its condition remains True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Pattern: </a:t>
            </a:r>
            <a:r>
              <a:rPr lang="en-US">
                <a:solidFill>
                  <a:schemeClr val="accent5"/>
                </a:solidFill>
              </a:rPr>
              <a:t>while condition: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The break statement exits the innermost loop immediately, while continue skips the rest of the current iteration and proceeds to the next cycle.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Both behave similarly to C++ and Java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• Although </a:t>
            </a:r>
            <a:r>
              <a:rPr lang="en-US">
                <a:solidFill>
                  <a:schemeClr val="accent5"/>
                </a:solidFill>
              </a:rPr>
              <a:t>for/in </a:t>
            </a:r>
            <a:r>
              <a:rPr lang="en-US"/>
              <a:t>handles most element-by-element list processing, while loops are useful when you need to jump by steps, stop early, or manage indexes directly.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Accessing every 3rd element with a while loop</a:t>
            </a:r>
            <a:endParaRPr sz="2520"/>
          </a:p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## Access every 3rd element in a list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i = 0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while i &lt; len(a):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  print(a[i])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  i = i + 3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3" title="Screenshot 2026-01-15 at 1.29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700" y="123775"/>
            <a:ext cx="8602577" cy="28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3" title="Screenshot 2026-01-15 at 1.29.4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0625" y="3040399"/>
            <a:ext cx="6560833" cy="190737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3"/>
          <p:cNvSpPr txBox="1"/>
          <p:nvPr/>
        </p:nvSpPr>
        <p:spPr>
          <a:xfrm>
            <a:off x="270700" y="3040400"/>
            <a:ext cx="178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Use </a:t>
            </a:r>
            <a:r>
              <a:rPr lang="en-US" sz="1800">
                <a:solidFill>
                  <a:schemeClr val="accent5"/>
                </a:solidFill>
              </a:rPr>
              <a:t>input(“text”) </a:t>
            </a:r>
            <a:r>
              <a:rPr lang="en-US" sz="1800">
                <a:solidFill>
                  <a:schemeClr val="lt2"/>
                </a:solidFill>
              </a:rPr>
              <a:t>to get user’s input.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4" title="Screenshot 2026-01-15 at 1.31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425"/>
            <a:ext cx="8071174" cy="34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4" title="Screenshot 2026-01-15 at 1.32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3350" y="2576200"/>
            <a:ext cx="4726299" cy="24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5" title="Screenshot 2026-01-15 at 1.3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300" y="140400"/>
            <a:ext cx="7502774" cy="24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5" title="Screenshot 2026-01-15 at 1.33.4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488" y="2663650"/>
            <a:ext cx="7253020" cy="22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Session 2 on Lists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methods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Common List Methods and How They Behave</a:t>
            </a:r>
            <a:endParaRPr sz="2520"/>
          </a:p>
        </p:txBody>
      </p:sp>
      <p:sp>
        <p:nvSpPr>
          <p:cNvPr id="265" name="Google Shape;265;p4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List methods like </a:t>
            </a:r>
            <a:r>
              <a:rPr lang="en-US" sz="1600">
                <a:solidFill>
                  <a:schemeClr val="accent5"/>
                </a:solidFill>
              </a:rPr>
              <a:t>append()</a:t>
            </a:r>
            <a:r>
              <a:rPr lang="en-US" sz="1600"/>
              <a:t>, </a:t>
            </a:r>
            <a:r>
              <a:rPr lang="en-US" sz="1600">
                <a:solidFill>
                  <a:schemeClr val="accent5"/>
                </a:solidFill>
              </a:rPr>
              <a:t>insert()</a:t>
            </a:r>
            <a:r>
              <a:rPr lang="en-US" sz="1600"/>
              <a:t>, </a:t>
            </a:r>
            <a:r>
              <a:rPr lang="en-US" sz="1600">
                <a:solidFill>
                  <a:schemeClr val="accent5"/>
                </a:solidFill>
              </a:rPr>
              <a:t>extend()</a:t>
            </a:r>
            <a:r>
              <a:rPr lang="en-US" sz="1600"/>
              <a:t>, and </a:t>
            </a:r>
            <a:r>
              <a:rPr lang="en-US" sz="1600">
                <a:solidFill>
                  <a:schemeClr val="accent5"/>
                </a:solidFill>
              </a:rPr>
              <a:t>remove() </a:t>
            </a:r>
            <a:r>
              <a:rPr lang="en-US" sz="1600"/>
              <a:t>change the list object in place, meaning the original list is modified instead of producing a new list.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accent5"/>
                </a:solidFill>
              </a:rPr>
              <a:t>list.append(elem)</a:t>
            </a:r>
            <a:r>
              <a:rPr lang="en-US" sz="1600"/>
              <a:t> -- adds a single element to the end of the list. Common error: does not return the new list, just modifies the original.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accent5"/>
                </a:solidFill>
              </a:rPr>
              <a:t>list.insert(index, elem)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lang="en-US" sz="1600"/>
              <a:t>-- inserts the element at the given index, shifting elements to the right.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accent5"/>
                </a:solidFill>
              </a:rPr>
              <a:t>list.extend(list2)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lang="en-US" sz="1600"/>
              <a:t>adds the elements in list2 to the end of the list. Using + or += on a list is similar to using extend().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1600">
                <a:solidFill>
                  <a:schemeClr val="accent5"/>
                </a:solidFill>
              </a:rPr>
              <a:t>list.remove(elem)</a:t>
            </a:r>
            <a:r>
              <a:rPr lang="en-US" sz="1600"/>
              <a:t> -- searches for the first instance of the given element and removes it (throws ValueError if not present)</a:t>
            </a:r>
            <a:endParaRPr sz="1600"/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600"/>
              <a:t>It helps to notice that </a:t>
            </a:r>
            <a:r>
              <a:rPr lang="en-US" sz="1600">
                <a:solidFill>
                  <a:schemeClr val="accent5"/>
                </a:solidFill>
              </a:rPr>
              <a:t>len()</a:t>
            </a:r>
            <a:r>
              <a:rPr lang="en-US" sz="1600"/>
              <a:t> is a </a:t>
            </a:r>
            <a:r>
              <a:rPr lang="en-US" sz="1600">
                <a:solidFill>
                  <a:schemeClr val="accent4"/>
                </a:solidFill>
              </a:rPr>
              <a:t>function</a:t>
            </a:r>
            <a:r>
              <a:rPr lang="en-US" sz="1600"/>
              <a:t> that takes a list argument, while </a:t>
            </a:r>
            <a:r>
              <a:rPr lang="en-US" sz="1600">
                <a:solidFill>
                  <a:schemeClr val="accent5"/>
                </a:solidFill>
              </a:rPr>
              <a:t>append()</a:t>
            </a:r>
            <a:r>
              <a:rPr lang="en-US" sz="1600"/>
              <a:t> and other operations are </a:t>
            </a:r>
            <a:r>
              <a:rPr lang="en-US" sz="1600">
                <a:solidFill>
                  <a:schemeClr val="accent4"/>
                </a:solidFill>
              </a:rPr>
              <a:t>methods</a:t>
            </a:r>
            <a:r>
              <a:rPr lang="en-US" sz="1600"/>
              <a:t> called with dot notation on the list itself: </a:t>
            </a:r>
            <a:r>
              <a:rPr lang="en-US" sz="1600">
                <a:solidFill>
                  <a:schemeClr val="accent5"/>
                </a:solidFill>
              </a:rPr>
              <a:t> len(list)</a:t>
            </a:r>
            <a:r>
              <a:rPr lang="en-US" sz="1600"/>
              <a:t> vs </a:t>
            </a:r>
            <a:r>
              <a:rPr lang="en-US" sz="1600">
                <a:solidFill>
                  <a:schemeClr val="accent5"/>
                </a:solidFill>
              </a:rPr>
              <a:t>list.append(x)</a:t>
            </a:r>
            <a:endParaRPr sz="1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 and Retrieval Methods</a:t>
            </a:r>
            <a:endParaRPr/>
          </a:p>
        </p:txBody>
      </p:sp>
      <p:sp>
        <p:nvSpPr>
          <p:cNvPr id="271" name="Google Shape;271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Some methods are designed for searching and retrieval, such as </a:t>
            </a:r>
            <a:r>
              <a:rPr lang="en-US">
                <a:solidFill>
                  <a:schemeClr val="accent5"/>
                </a:solidFill>
              </a:rPr>
              <a:t>index() </a:t>
            </a:r>
            <a:r>
              <a:rPr lang="en-US"/>
              <a:t>which returns a position, and </a:t>
            </a:r>
            <a:r>
              <a:rPr lang="en-US">
                <a:solidFill>
                  <a:schemeClr val="accent5"/>
                </a:solidFill>
              </a:rPr>
              <a:t>pop()</a:t>
            </a:r>
            <a:r>
              <a:rPr lang="en-US"/>
              <a:t> which removes and returns an element at an index.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list.index(elem)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-- searches for the given element from the start of the list and returns its index. Throws a ValueError if the element does not appear (use "in" to check without a ValueError).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○"/>
            </a:pPr>
            <a:r>
              <a:rPr lang="en-US" sz="1500"/>
              <a:t> The </a:t>
            </a:r>
            <a:r>
              <a:rPr lang="en-US" sz="1500">
                <a:solidFill>
                  <a:schemeClr val="accent5"/>
                </a:solidFill>
              </a:rPr>
              <a:t>index() </a:t>
            </a:r>
            <a:r>
              <a:rPr lang="en-US" sz="1500"/>
              <a:t>and </a:t>
            </a:r>
            <a:r>
              <a:rPr lang="en-US" sz="1500">
                <a:solidFill>
                  <a:schemeClr val="accent5"/>
                </a:solidFill>
              </a:rPr>
              <a:t>remove() </a:t>
            </a:r>
            <a:r>
              <a:rPr lang="en-US" sz="1500"/>
              <a:t>methods raise a ValueError if the element does not exist, so using</a:t>
            </a:r>
            <a:r>
              <a:rPr lang="en-US" sz="1500">
                <a:solidFill>
                  <a:schemeClr val="accent5"/>
                </a:solidFill>
              </a:rPr>
              <a:t> in </a:t>
            </a:r>
            <a:r>
              <a:rPr lang="en-US" sz="1500"/>
              <a:t>first can prevent errors when presence is uncertain.</a:t>
            </a:r>
            <a:endParaRPr sz="15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500"/>
              <a:t>Use: </a:t>
            </a:r>
            <a:r>
              <a:rPr lang="en-US" sz="1500">
                <a:solidFill>
                  <a:schemeClr val="accent5"/>
                </a:solidFill>
              </a:rPr>
              <a:t>if elem in items:</a:t>
            </a:r>
            <a:endParaRPr sz="12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n-US" sz="15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list.pop(index) 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-- removes and returns the element at the given index. Returns the rightmost element if index is omitted (roughly the opposite of append()).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49"/>
          <p:cNvSpPr/>
          <p:nvPr/>
        </p:nvSpPr>
        <p:spPr>
          <a:xfrm>
            <a:off x="927950" y="3327375"/>
            <a:ext cx="2319900" cy="411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Sort </a:t>
            </a:r>
            <a:r>
              <a:rPr lang="en-US"/>
              <a:t>and </a:t>
            </a:r>
            <a:r>
              <a:rPr lang="en-US">
                <a:solidFill>
                  <a:schemeClr val="accent5"/>
                </a:solidFill>
              </a:rPr>
              <a:t>Reverse</a:t>
            </a:r>
            <a:r>
              <a:rPr lang="en-US"/>
              <a:t> Methods</a:t>
            </a:r>
            <a:endParaRPr/>
          </a:p>
        </p:txBody>
      </p:sp>
      <p:sp>
        <p:nvSpPr>
          <p:cNvPr id="278" name="Google Shape;278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Methods like </a:t>
            </a:r>
            <a:r>
              <a:rPr lang="en-US">
                <a:solidFill>
                  <a:schemeClr val="accent5"/>
                </a:solidFill>
              </a:rPr>
              <a:t>sort() </a:t>
            </a:r>
            <a:r>
              <a:rPr lang="en-US"/>
              <a:t>and </a:t>
            </a:r>
            <a:r>
              <a:rPr lang="en-US">
                <a:solidFill>
                  <a:schemeClr val="accent5"/>
                </a:solidFill>
              </a:rPr>
              <a:t>reverse()</a:t>
            </a:r>
            <a:r>
              <a:rPr lang="en-US"/>
              <a:t> also modify the list in place. A separate </a:t>
            </a:r>
            <a:r>
              <a:rPr lang="en-US">
                <a:solidFill>
                  <a:schemeClr val="accent5"/>
                </a:solidFill>
              </a:rPr>
              <a:t>sorted() </a:t>
            </a:r>
            <a:r>
              <a:rPr lang="en-US"/>
              <a:t>function is often preferred for sorting behavior (will learn later).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In-place:</a:t>
            </a:r>
            <a:r>
              <a:rPr lang="en-US">
                <a:solidFill>
                  <a:schemeClr val="accent5"/>
                </a:solidFill>
              </a:rPr>
              <a:t> list.sort()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New list: </a:t>
            </a:r>
            <a:r>
              <a:rPr lang="en-US">
                <a:solidFill>
                  <a:schemeClr val="accent5"/>
                </a:solidFill>
              </a:rPr>
              <a:t>sorted(list)</a:t>
            </a:r>
            <a:endParaRPr>
              <a:solidFill>
                <a:schemeClr val="accent5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list.sort() 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-- sorts the list in place (does not return it). </a:t>
            </a:r>
            <a:r>
              <a:rPr lang="en-US" sz="16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(The sorted() function shown in future session is preferred.)</a:t>
            </a:r>
            <a:endParaRPr sz="16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"/>
              <a:buChar char="●"/>
            </a:pPr>
            <a:r>
              <a:rPr lang="en-US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list.reverse() 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-- reverses the list in place (does not return it)</a:t>
            </a:r>
            <a:endParaRPr sz="2200"/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Demonstrating list methods</a:t>
            </a:r>
            <a:endParaRPr sz="2520"/>
          </a:p>
        </p:txBody>
      </p:sp>
      <p:sp>
        <p:nvSpPr>
          <p:cNvPr id="284" name="Google Shape;28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</a:t>
            </a:r>
            <a:r>
              <a:rPr lang="en-US" sz="1600">
                <a:solidFill>
                  <a:schemeClr val="accent5"/>
                </a:solidFill>
              </a:rPr>
              <a:t>list = ['larry', 'curly', 'moe']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list.append('shemp')         ## append elem at end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list.insert(0, 'xxx')        ## insert elem at index 0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list.extend(['yyy', 'zzz'])  ## add list of elems at end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print(list)  ## ['xxx', 'larry', 'curly', 'moe', 'shemp', 'yyy', 'zzz']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print(list.index('curly'))    ## 2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list.remove('curly')         ## search and remove that element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list.pop(1)                  ## removes and returns 'larry'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accent5"/>
                </a:solidFill>
              </a:rPr>
              <a:t>  print(list)  ## ['xxx', 'moe', 'shemp', 'yyy', 'zzz']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Common Error: Methods Modify the List and Return None</a:t>
            </a:r>
            <a:endParaRPr sz="2520"/>
          </a:p>
        </p:txBody>
      </p:sp>
      <p:sp>
        <p:nvSpPr>
          <p:cNvPr id="290" name="Google Shape;29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Many list methods do not return the modified list, so printing the result of </a:t>
            </a:r>
            <a:r>
              <a:rPr lang="en-US">
                <a:solidFill>
                  <a:schemeClr val="accent5"/>
                </a:solidFill>
              </a:rPr>
              <a:t>append() </a:t>
            </a:r>
            <a:r>
              <a:rPr lang="en-US"/>
              <a:t>or</a:t>
            </a:r>
            <a:r>
              <a:rPr lang="en-US">
                <a:solidFill>
                  <a:schemeClr val="accent5"/>
                </a:solidFill>
              </a:rPr>
              <a:t> sort() </a:t>
            </a:r>
            <a:r>
              <a:rPr lang="en-US"/>
              <a:t>will show None even though the list itself changed.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This surprises beginners frequently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The reliable pattern is to call the method on its own line to perform the modification, and then inspect the list variable afterward to see the updated contents.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Call method first, print later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• This in-place behavior is efficient because it avoids creating unnecessary new lists, but it requires you to remember that </a:t>
            </a:r>
            <a:r>
              <a:rPr lang="en-US">
                <a:solidFill>
                  <a:schemeClr val="accent4"/>
                </a:solidFill>
              </a:rPr>
              <a:t>the method call is an action, not a value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</a:t>
            </a:r>
            <a:r>
              <a:rPr lang="en-US" sz="2520">
                <a:solidFill>
                  <a:schemeClr val="accent5"/>
                </a:solidFill>
              </a:rPr>
              <a:t>append()</a:t>
            </a:r>
            <a:r>
              <a:rPr lang="en-US" sz="2520"/>
              <a:t> returns None</a:t>
            </a:r>
            <a:endParaRPr sz="2520"/>
          </a:p>
        </p:txBody>
      </p:sp>
      <p:sp>
        <p:nvSpPr>
          <p:cNvPr id="296" name="Google Shape;29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>
                <a:solidFill>
                  <a:schemeClr val="accent5"/>
                </a:solidFill>
              </a:rPr>
              <a:t> </a:t>
            </a:r>
            <a:r>
              <a:rPr lang="en-US">
                <a:solidFill>
                  <a:schemeClr val="accent5"/>
                </a:solidFill>
              </a:rPr>
              <a:t>list = [1, 2, 3]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print(list.append(4))   ## NO, does not work, append() returns None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## Correct pattern: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list.append(4)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print(list)  ## [1, 2, 3, 4]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Buildup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Building a List Gradually</a:t>
            </a:r>
            <a:endParaRPr sz="2520"/>
          </a:p>
        </p:txBody>
      </p:sp>
      <p:sp>
        <p:nvSpPr>
          <p:cNvPr id="307" name="Google Shape;307;p55"/>
          <p:cNvSpPr txBox="1"/>
          <p:nvPr>
            <p:ph idx="1" type="body"/>
          </p:nvPr>
        </p:nvSpPr>
        <p:spPr>
          <a:xfrm>
            <a:off x="311700" y="1105836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• A common and practical workflow is to start with an empty list and then add elements one at a time, which is especially useful when processing input or computing results.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  ◦ Start: </a:t>
            </a:r>
            <a:r>
              <a:rPr lang="en-US" sz="1700">
                <a:solidFill>
                  <a:schemeClr val="accent5"/>
                </a:solidFill>
              </a:rPr>
              <a:t>my_list = []</a:t>
            </a:r>
            <a:endParaRPr sz="17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Using </a:t>
            </a:r>
            <a:r>
              <a:rPr lang="en-US" sz="1700">
                <a:solidFill>
                  <a:schemeClr val="accent5"/>
                </a:solidFill>
              </a:rPr>
              <a:t>append()</a:t>
            </a:r>
            <a:r>
              <a:rPr lang="en-US" sz="1700"/>
              <a:t> adds one element at the end, while </a:t>
            </a:r>
            <a:r>
              <a:rPr lang="en-US" sz="1700">
                <a:solidFill>
                  <a:schemeClr val="accent5"/>
                </a:solidFill>
              </a:rPr>
              <a:t>extend() </a:t>
            </a:r>
            <a:r>
              <a:rPr lang="en-US" sz="1700"/>
              <a:t>adds many elements from another list, so you can choose the method that matches your data source.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  ◦ </a:t>
            </a:r>
            <a:r>
              <a:rPr lang="en-US" sz="1700">
                <a:solidFill>
                  <a:schemeClr val="accent5"/>
                </a:solidFill>
              </a:rPr>
              <a:t>append(single_item)</a:t>
            </a:r>
            <a:endParaRPr sz="17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  ◦ </a:t>
            </a:r>
            <a:r>
              <a:rPr lang="en-US" sz="1700">
                <a:solidFill>
                  <a:schemeClr val="accent5"/>
                </a:solidFill>
              </a:rPr>
              <a:t>extend(list_of_items)</a:t>
            </a:r>
            <a:endParaRPr sz="17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/>
              <a:t>• This build-up pattern works well with </a:t>
            </a:r>
            <a:r>
              <a:rPr lang="en-US" sz="1700">
                <a:solidFill>
                  <a:schemeClr val="accent5"/>
                </a:solidFill>
              </a:rPr>
              <a:t>for </a:t>
            </a:r>
            <a:r>
              <a:rPr lang="en-US" sz="1700"/>
              <a:t>loops, where each iteration computes a new item and appends it, keeping code clear and avoiding complicated pre-sizing logic.</a:t>
            </a:r>
            <a:endParaRPr sz="17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Starting with [] and appending elements</a:t>
            </a:r>
            <a:endParaRPr sz="2520"/>
          </a:p>
        </p:txBody>
      </p:sp>
      <p:sp>
        <p:nvSpPr>
          <p:cNvPr id="313" name="Google Shape;31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list = []          ## Start as the empty list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list.append('a')   ## Use append() to add elements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list.append('b')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List Slices: Extracting and Replacing Parts of a List</a:t>
            </a:r>
            <a:endParaRPr sz="2520"/>
          </a:p>
        </p:txBody>
      </p:sp>
      <p:sp>
        <p:nvSpPr>
          <p:cNvPr id="319" name="Google Shape;319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• List slicing uses the same start-and-stop style as string slicing, where </a:t>
            </a:r>
            <a:r>
              <a:rPr lang="en-US" sz="1700">
                <a:solidFill>
                  <a:schemeClr val="accent5"/>
                </a:solidFill>
              </a:rPr>
              <a:t>list[start:stop] </a:t>
            </a:r>
            <a:r>
              <a:rPr lang="en-US" sz="1700"/>
              <a:t>returns a new list containing elements from </a:t>
            </a:r>
            <a:r>
              <a:rPr lang="en-US" sz="1700">
                <a:solidFill>
                  <a:schemeClr val="accent4"/>
                </a:solidFill>
              </a:rPr>
              <a:t>start </a:t>
            </a:r>
            <a:r>
              <a:rPr lang="en-US" sz="1700"/>
              <a:t>up to but not including </a:t>
            </a:r>
            <a:r>
              <a:rPr lang="en-US" sz="1700">
                <a:solidFill>
                  <a:schemeClr val="accent4"/>
                </a:solidFill>
              </a:rPr>
              <a:t>stop</a:t>
            </a:r>
            <a:r>
              <a:rPr lang="en-US" sz="1700"/>
              <a:t>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  ◦ Stop index is not included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Negative indexes in slices count from the end, so a slice like </a:t>
            </a:r>
            <a:r>
              <a:rPr lang="en-US" sz="1700">
                <a:solidFill>
                  <a:schemeClr val="accent5"/>
                </a:solidFill>
              </a:rPr>
              <a:t>list[1:-1] </a:t>
            </a:r>
            <a:r>
              <a:rPr lang="en-US" sz="1700"/>
              <a:t>is a convenient way to get the middle portion while excluding the first and last elements.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  ◦ Useful for trimming boundaries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Slices can also be assigned to, allowing you to replace a section of a list with new values, which can shrink or grow the list depending on what you assign.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/>
              <a:t>  ◦ Slice assignment modifies the original list</a:t>
            </a:r>
            <a:endParaRPr sz="17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Slicing and slice assignment</a:t>
            </a:r>
            <a:endParaRPr sz="2520"/>
          </a:p>
        </p:txBody>
      </p:sp>
      <p:sp>
        <p:nvSpPr>
          <p:cNvPr id="325" name="Google Shape;325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</a:t>
            </a:r>
            <a:r>
              <a:rPr lang="en-US">
                <a:solidFill>
                  <a:schemeClr val="accent5"/>
                </a:solidFill>
              </a:rPr>
              <a:t>list = ['a', 'b', 'c', 'd']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print(list[1:-1])   ## ['b', 'c']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list[0:2] = 'z'    ## replace ['a', 'b'] with ['z']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print(list)         ## ['z', 'c', 'd']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Mutability of Lists vs. Strings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What’s wrong with this code?</a:t>
            </a:r>
            <a:endParaRPr/>
          </a:p>
        </p:txBody>
      </p:sp>
      <p:pic>
        <p:nvPicPr>
          <p:cNvPr id="336" name="Google Shape;336;p60" title="Screenshot 2026-01-15 at 1.13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00" y="1192325"/>
            <a:ext cx="5682580" cy="2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60" title="Screenshot 2026-01-15 at 1.14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8250" y="4232750"/>
            <a:ext cx="4963425" cy="5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60"/>
          <p:cNvSpPr txBox="1"/>
          <p:nvPr/>
        </p:nvSpPr>
        <p:spPr>
          <a:xfrm>
            <a:off x="719500" y="4253213"/>
            <a:ext cx="26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Strings are immutable.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Strings are Immutable</a:t>
            </a:r>
            <a:endParaRPr/>
          </a:p>
        </p:txBody>
      </p:sp>
      <p:pic>
        <p:nvPicPr>
          <p:cNvPr id="344" name="Google Shape;344;p61" title="Screenshot 2026-01-15 at 1.20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25" y="1258825"/>
            <a:ext cx="8827549" cy="22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61" title="Screenshot 2026-01-15 at 1.21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3300" y="3622200"/>
            <a:ext cx="4346200" cy="11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What’s wrong with this code?</a:t>
            </a:r>
            <a:endParaRPr/>
          </a:p>
        </p:txBody>
      </p:sp>
      <p:pic>
        <p:nvPicPr>
          <p:cNvPr id="351" name="Google Shape;351;p62" title="Screenshot 2026-01-15 at 1.16.1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81" y="1216175"/>
            <a:ext cx="3277900" cy="9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62" title="Screenshot 2026-01-15 at 1.16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3696" y="1785722"/>
            <a:ext cx="5660374" cy="4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62"/>
          <p:cNvSpPr txBox="1"/>
          <p:nvPr/>
        </p:nvSpPr>
        <p:spPr>
          <a:xfrm>
            <a:off x="311700" y="2340900"/>
            <a:ext cx="62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Why? 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354" name="Google Shape;354;p62" title="Screenshot 2026-01-15 at 1.18.3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000" y="3317900"/>
            <a:ext cx="7277662" cy="17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62"/>
          <p:cNvSpPr txBox="1"/>
          <p:nvPr/>
        </p:nvSpPr>
        <p:spPr>
          <a:xfrm>
            <a:off x="748000" y="2802600"/>
            <a:ext cx="62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Lists are Mutable.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Recap: Mutability of Lists versus Strings</a:t>
            </a:r>
            <a:endParaRPr/>
          </a:p>
        </p:txBody>
      </p:sp>
      <p:pic>
        <p:nvPicPr>
          <p:cNvPr id="361" name="Google Shape;361;p63" title="Screenshot 2026-01-15 at 1.20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25" y="1434026"/>
            <a:ext cx="8111040" cy="24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tuple?</a:t>
            </a:r>
            <a:endParaRPr/>
          </a:p>
        </p:txBody>
      </p:sp>
      <p:pic>
        <p:nvPicPr>
          <p:cNvPr id="367" name="Google Shape;367;p64" title="Screenshot 2025-11-30 at 9.29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25" y="1017725"/>
            <a:ext cx="5478627" cy="281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64" title="Screenshot 2025-11-30 at 9.30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9325" y="1078700"/>
            <a:ext cx="2992975" cy="332274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4"/>
          <p:cNvSpPr/>
          <p:nvPr/>
        </p:nvSpPr>
        <p:spPr>
          <a:xfrm>
            <a:off x="4787725" y="2622575"/>
            <a:ext cx="732000" cy="27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Exercises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66" title="Screenshot 2026-01-15 at 12.54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588" y="780100"/>
            <a:ext cx="849681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67" title="Screenshot 2026-01-15 at 12.47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413"/>
            <a:ext cx="8839201" cy="31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7" title="Screenshot 2026-01-15 at 12.49.5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0800" y="3144304"/>
            <a:ext cx="3849149" cy="198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68" title="Screenshot 2026-01-15 at 12.51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06" y="146298"/>
            <a:ext cx="7604824" cy="330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8" title="Screenshot 2026-01-15 at 12.51.2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2625" y="2777875"/>
            <a:ext cx="6113124" cy="22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69" title="Screenshot 2026-01-15 at 12.52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500"/>
            <a:ext cx="8839202" cy="322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69" title="Screenshot 2026-01-15 at 12.53.3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125" y="2219875"/>
            <a:ext cx="4162249" cy="29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70" title="Screenshot 2026-01-15 at 12.55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425"/>
            <a:ext cx="8839199" cy="3678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70" title="Screenshot 2026-01-15 at 12.56.4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175" y="2300150"/>
            <a:ext cx="4528824" cy="278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Coding Practice with lists</a:t>
            </a:r>
            <a:endParaRPr sz="2520">
              <a:solidFill>
                <a:schemeClr val="accent4"/>
              </a:solidFill>
            </a:endParaRPr>
          </a:p>
        </p:txBody>
      </p:sp>
      <p:sp>
        <p:nvSpPr>
          <p:cNvPr id="409" name="Google Shape;409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BD80"/>
                </a:solidFill>
              </a:rPr>
              <a:t>Solve problem match_ends in </a:t>
            </a:r>
            <a:r>
              <a:rPr lang="en-US">
                <a:solidFill>
                  <a:schemeClr val="accent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list1.py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	</a:t>
            </a:r>
            <a:r>
              <a:rPr lang="en-US">
                <a:solidFill>
                  <a:schemeClr val="accent5"/>
                </a:solidFill>
              </a:rPr>
              <a:t>len(list)</a:t>
            </a:r>
            <a:r>
              <a:rPr lang="en-US"/>
              <a:t> returns the number of elements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BD80"/>
                </a:solidFill>
              </a:rPr>
              <a:t>Solve problem remove_adjacent in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list2.py</a:t>
            </a:r>
            <a:endParaRPr>
              <a:solidFill>
                <a:schemeClr val="accent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-US">
                <a:solidFill>
                  <a:schemeClr val="accent4"/>
                </a:solidFill>
              </a:rPr>
              <a:t>Build a list method </a:t>
            </a:r>
            <a:r>
              <a:rPr lang="en-US" sz="1700">
                <a:solidFill>
                  <a:schemeClr val="accent5"/>
                </a:solidFill>
              </a:rPr>
              <a:t>append()</a:t>
            </a:r>
            <a:r>
              <a:rPr lang="en-US" sz="1700"/>
              <a:t> adds one element at the end,</a:t>
            </a:r>
            <a:endParaRPr>
              <a:solidFill>
                <a:schemeClr val="accent4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-US" sz="1600">
                <a:solidFill>
                  <a:schemeClr val="accent4"/>
                </a:solidFill>
              </a:rPr>
              <a:t>Remove elements from list method</a:t>
            </a:r>
            <a:r>
              <a:rPr lang="en-US" sz="1600">
                <a:solidFill>
                  <a:schemeClr val="accent5"/>
                </a:solidFill>
              </a:rPr>
              <a:t> </a:t>
            </a:r>
            <a:r>
              <a:rPr lang="en-US" sz="1600">
                <a:solidFill>
                  <a:schemeClr val="accent5"/>
                </a:solidFill>
              </a:rPr>
              <a:t>list.remove(elem)</a:t>
            </a:r>
            <a:r>
              <a:rPr lang="en-US" sz="1600"/>
              <a:t> -- searches for the first instance of the given element and removes it (throws ValueError if not present)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match_ends</a:t>
            </a:r>
            <a:endParaRPr/>
          </a:p>
        </p:txBody>
      </p:sp>
      <p:pic>
        <p:nvPicPr>
          <p:cNvPr id="415" name="Google Shape;415;p72" title="Screenshot 2026-01-29 at 10.10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75" y="1017725"/>
            <a:ext cx="6816675" cy="12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593675" y="2496900"/>
            <a:ext cx="5093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Initialize count to zero.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Loop through each string in the list: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	If string length is 2 or more, and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	the first and last characters of string are equal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	increment count by 1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	</a:t>
            </a:r>
            <a:endParaRPr sz="1600">
              <a:solidFill>
                <a:schemeClr val="accent4"/>
              </a:solidFill>
            </a:endParaRPr>
          </a:p>
        </p:txBody>
      </p:sp>
      <p:pic>
        <p:nvPicPr>
          <p:cNvPr id="417" name="Google Shape;417;p72" title="Screenshot 2026-02-05 at 3.07.3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350" y="3633414"/>
            <a:ext cx="5508950" cy="1510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remove_adjacent: </a:t>
            </a:r>
            <a:r>
              <a:rPr lang="en-US">
                <a:solidFill>
                  <a:schemeClr val="accent4"/>
                </a:solidFill>
              </a:rPr>
              <a:t>Pseudo-code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423" name="Google Shape;423;p73" title="Screenshot 2026-01-29 at 10.09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75" y="1017725"/>
            <a:ext cx="7209702" cy="1076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73"/>
          <p:cNvSpPr txBox="1"/>
          <p:nvPr/>
        </p:nvSpPr>
        <p:spPr>
          <a:xfrm>
            <a:off x="198850" y="2478950"/>
            <a:ext cx="4759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Initialize a new list.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Loop through each item in old list: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	if item is not already in the new list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</a:rPr>
              <a:t>		add the item to the new list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425" name="Google Shape;425;p73"/>
          <p:cNvSpPr txBox="1"/>
          <p:nvPr/>
        </p:nvSpPr>
        <p:spPr>
          <a:xfrm>
            <a:off x="4586725" y="2532000"/>
            <a:ext cx="397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FF"/>
                </a:solidFill>
              </a:rPr>
              <a:t>Initialize new list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FF"/>
                </a:solidFill>
              </a:rPr>
              <a:t>Loop through each item in old list: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FF"/>
                </a:solidFill>
              </a:rPr>
              <a:t>	If new list is empty or </a:t>
            </a:r>
            <a:endParaRPr sz="1600">
              <a:solidFill>
                <a:srgbClr val="FF00FF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FF"/>
                </a:solidFill>
              </a:rPr>
              <a:t>item is not equal to the last element in the new list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FF"/>
                </a:solidFill>
              </a:rPr>
              <a:t>	add the item to the new list</a:t>
            </a:r>
            <a:endParaRPr sz="16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remove_adjacent: </a:t>
            </a:r>
            <a:r>
              <a:rPr lang="en-US">
                <a:solidFill>
                  <a:schemeClr val="accent5"/>
                </a:solidFill>
              </a:rPr>
              <a:t>Solution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431" name="Google Shape;431;p74" title="Screenshot 2026-01-29 at 10.08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48100"/>
            <a:ext cx="3579625" cy="15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74" title="Screenshot 2026-01-29 at 10.08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1325" y="2398600"/>
            <a:ext cx="5169600" cy="16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74" title="Screenshot 2026-01-29 at 10.09.5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875" y="1017725"/>
            <a:ext cx="7209702" cy="1076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74"/>
          <p:cNvSpPr txBox="1"/>
          <p:nvPr/>
        </p:nvSpPr>
        <p:spPr>
          <a:xfrm>
            <a:off x="2764500" y="4229350"/>
            <a:ext cx="63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Which solution is more efficient?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