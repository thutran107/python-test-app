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Poppins"/>
      <p:regular r:id="rId50"/>
      <p:bold r:id="rId51"/>
      <p:italic r:id="rId52"/>
      <p:boldItalic r:id="rId53"/>
    </p:embeddedFont>
    <p:embeddedFont>
      <p:font typeface="Helvetica Neue"/>
      <p:regular r:id="rId54"/>
      <p:bold r:id="rId55"/>
      <p:italic r:id="rId56"/>
      <p:boldItalic r:id="rId57"/>
    </p:embeddedFont>
    <p:embeddedFont>
      <p:font typeface="Roboto Mon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font" Target="fonts/RobotoMon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Mono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-bold.fntdata"/><Relationship Id="rId50" Type="http://schemas.openxmlformats.org/officeDocument/2006/relationships/font" Target="fonts/Poppins-regular.fntdata"/><Relationship Id="rId53" Type="http://schemas.openxmlformats.org/officeDocument/2006/relationships/font" Target="fonts/Poppins-boldItalic.fntdata"/><Relationship Id="rId52" Type="http://schemas.openxmlformats.org/officeDocument/2006/relationships/font" Target="fonts/Poppins-italic.fntdata"/><Relationship Id="rId11" Type="http://schemas.openxmlformats.org/officeDocument/2006/relationships/slide" Target="slides/slide6.xml"/><Relationship Id="rId55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54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57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56" Type="http://schemas.openxmlformats.org/officeDocument/2006/relationships/font" Target="fonts/HelveticaNeue-italic.fntdata"/><Relationship Id="rId15" Type="http://schemas.openxmlformats.org/officeDocument/2006/relationships/slide" Target="slides/slide10.xml"/><Relationship Id="rId59" Type="http://schemas.openxmlformats.org/officeDocument/2006/relationships/font" Target="fonts/RobotoMono-bold.fntdata"/><Relationship Id="rId14" Type="http://schemas.openxmlformats.org/officeDocument/2006/relationships/slide" Target="slides/slide9.xml"/><Relationship Id="rId58" Type="http://schemas.openxmlformats.org/officeDocument/2006/relationships/font" Target="fonts/RobotoMon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9c4621f_0_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659c4621f_0_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slide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slide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659c4621f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659c4621f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659c4621f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659c4621f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659c4621f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659c4621f_0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659c4621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659c4621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659c4621f_0_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659c4621f_0_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b93b8a177_0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b93b8a177_0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b93b8a177_0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b93b8a177_0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b93b8a177_0_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b93b8a177_0_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b93b8a177_0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b93b8a177_0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659c4621f_0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659c4621f_0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slide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slide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b93b8a177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b93b8a177_0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659c4621f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659c4621f_0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659c4621f_0_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659c4621f_0_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659c4621f_0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659c4621f_0_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659c4621f_0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659c4621f_0_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slide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slide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659c4621f_0_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659c4621f_0_1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659c4621f_0_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659c4621f_0_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659c4621f_0_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659c4621f_0_1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d19e7f8ce_3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d19e7f8ce_3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a5e78a301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a5e78a301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7aa33775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7aa33775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7aa33775f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7aa33775f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75da0536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75da05364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659c4621f_0_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659c4621f_0_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b93b8a17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ab93b8a177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2becf4b56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b2becf4b56_0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b93b8a177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b93b8a177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b93b8a177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b93b8a177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b93b8a177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b93b8a177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2becf4b56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2becf4b56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2becf4b56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b2becf4b56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2becf4b56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2becf4b56_0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2becf4b56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2becf4b56_0_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2becf4b56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b2becf4b56_0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slide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slide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slide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slide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2becf4b56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b2becf4b56_0_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08be09029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a08be09029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  <a:defRPr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877" y="4306150"/>
            <a:ext cx="952271" cy="2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-11200" y="0"/>
            <a:ext cx="9144000" cy="5143500"/>
          </a:xfrm>
          <a:prstGeom prst="rect">
            <a:avLst/>
          </a:prstGeom>
          <a:solidFill>
            <a:srgbClr val="49A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BD80"/>
              </a:solidFill>
            </a:endParaRPr>
          </a:p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oppins"/>
              <a:buNone/>
              <a:defRPr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5877" y="4306150"/>
            <a:ext cx="952271" cy="2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newfile.py" TargetMode="External"/><Relationship Id="rId4" Type="http://schemas.openxmlformats.org/officeDocument/2006/relationships/hyperlink" Target="http://newfile.py" TargetMode="External"/><Relationship Id="rId5" Type="http://schemas.openxmlformats.org/officeDocument/2006/relationships/hyperlink" Target="http://newfile.py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Relationship Id="rId4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Understanding Python Strings - Part 2 </a:t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5"/>
                </a:solidFill>
              </a:rPr>
              <a:t>Session</a:t>
            </a:r>
            <a:r>
              <a:rPr lang="en-US" sz="2400">
                <a:solidFill>
                  <a:schemeClr val="accent5"/>
                </a:solidFill>
              </a:rPr>
              <a:t> 4 </a:t>
            </a:r>
            <a:r>
              <a:rPr lang="en-US" sz="2400"/>
              <a:t> 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November 2025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AI Foundations - Learning Python</a:t>
            </a:r>
            <a:endParaRPr sz="2400"/>
          </a:p>
        </p:txBody>
      </p:sp>
      <p:pic>
        <p:nvPicPr>
          <p:cNvPr descr="Beautify this slide"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28"/>
            <a:ext cx="9144000" cy="508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f-Strings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String Formatting with f-Strings</a:t>
            </a:r>
            <a:endParaRPr sz="2520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Formatted string literals (f-strings) are prefixed with </a:t>
            </a:r>
            <a:r>
              <a:rPr lang="en-US">
                <a:solidFill>
                  <a:schemeClr val="accent5"/>
                </a:solidFill>
              </a:rPr>
              <a:t>'f',</a:t>
            </a:r>
            <a:r>
              <a:rPr lang="en-US"/>
              <a:t> allowing inline expressions in </a:t>
            </a:r>
            <a:r>
              <a:rPr lang="en-US">
                <a:solidFill>
                  <a:schemeClr val="accent5"/>
                </a:solidFill>
              </a:rPr>
              <a:t>'{}'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Simple and powerful formatting tool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Supports complex expressions and specifications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F-strings enable formatting of numbers and alignment of text attributes for readability and presentation.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Example: </a:t>
            </a:r>
            <a:r>
              <a:rPr lang="en-US">
                <a:solidFill>
                  <a:schemeClr val="accent5"/>
                </a:solidFill>
              </a:rPr>
              <a:t>f'{value:.2f}' </a:t>
            </a:r>
            <a:r>
              <a:rPr lang="en-US"/>
              <a:t>for two decimal places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Aligning columns in tabular data with f-strings</a:t>
            </a: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5916700" y="3729325"/>
            <a:ext cx="326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What do you think f in 2f stands for?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80" name="Google Shape;80;p17"/>
          <p:cNvCxnSpPr>
            <a:endCxn id="79" idx="1"/>
          </p:cNvCxnSpPr>
          <p:nvPr/>
        </p:nvCxnSpPr>
        <p:spPr>
          <a:xfrm>
            <a:off x="5307100" y="3818875"/>
            <a:ext cx="609600" cy="279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Beautify this slide"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25"/>
            <a:ext cx="9144000" cy="508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Using f-Strings</a:t>
            </a:r>
            <a:endParaRPr sz="252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value = </a:t>
            </a:r>
            <a:r>
              <a:rPr lang="en-US" sz="1400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2.791514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400">
                <a:solidFill>
                  <a:srgbClr val="D7AE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f'approximate value = {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:.2f}'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r>
              <a:rPr lang="en-US" sz="1400">
                <a:solidFill>
                  <a:srgbClr val="FF8BC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# approximate value = 2.79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car = {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'tires'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1400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'doors'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1400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28600" marR="228600" rtl="0" algn="l">
              <a:lnSpc>
                <a:spcPct val="142857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400">
                <a:solidFill>
                  <a:srgbClr val="D7AE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f'car = {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car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}'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US" sz="1400">
                <a:solidFill>
                  <a:srgbClr val="FF8BC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# car = {'tires': 4, 'doors': 2}</a:t>
            </a:r>
            <a:endParaRPr sz="1400">
              <a:solidFill>
                <a:srgbClr val="FF8BCB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◦ Demonstrates f-string syntax in Python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◦ Flexible and concise for dynamic string creation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311700" y="3532275"/>
            <a:ext cx="8345400" cy="960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3830100" y="2044150"/>
            <a:ext cx="531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car is a Python Dictionary with 2 key:value pairs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90" name="Google Shape;90;p18"/>
          <p:cNvCxnSpPr>
            <a:endCxn id="89" idx="1"/>
          </p:cNvCxnSpPr>
          <p:nvPr/>
        </p:nvCxnSpPr>
        <p:spPr>
          <a:xfrm flipH="1" rot="10800000">
            <a:off x="2976300" y="2275000"/>
            <a:ext cx="853800" cy="1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Variables or expressions inside strings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A903E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"Alice"</a:t>
            </a:r>
            <a:endParaRPr sz="1400">
              <a:solidFill>
                <a:srgbClr val="81C99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A903E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 sz="1400">
                <a:solidFill>
                  <a:srgbClr val="FA903E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  <a:endParaRPr sz="1400">
              <a:solidFill>
                <a:srgbClr val="FA903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A903E"/>
                </a:solidFill>
                <a:latin typeface="Roboto Mono"/>
                <a:ea typeface="Roboto Mono"/>
                <a:cs typeface="Roboto Mono"/>
                <a:sym typeface="Roboto Mono"/>
              </a:rPr>
              <a:t>message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f"Hello, my name is 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{name}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 and I am 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{age}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 years old."</a:t>
            </a:r>
            <a:endParaRPr sz="1400">
              <a:solidFill>
                <a:srgbClr val="81C99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print(message)</a:t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</a:pP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Prefix </a:t>
            </a: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 or </a:t>
            </a: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: The string literal is prefixed with </a:t>
            </a: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 or </a:t>
            </a: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 (e.g., </a:t>
            </a: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f"..."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 or </a:t>
            </a: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F"..."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).</a:t>
            </a:r>
            <a:endParaRPr sz="120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</a:pP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Curly Braces </a:t>
            </a: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{}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: Variables or expressions are placed inside curly braces </a:t>
            </a: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{}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 within the string. Python automatically evaluates these expressions and converts their results to strings, embedding them into the final string</a:t>
            </a:r>
            <a:endParaRPr sz="1400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Hello, my name is Alice and I am 30 years old.</a:t>
            </a:r>
            <a:endParaRPr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413125" y="3170800"/>
            <a:ext cx="8345400" cy="960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Number Formatting (decimal places, thousands separator)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price = </a:t>
            </a:r>
            <a:r>
              <a:rPr lang="en-US" sz="1400">
                <a:solidFill>
                  <a:srgbClr val="FA903E"/>
                </a:solidFill>
                <a:latin typeface="Roboto Mono"/>
                <a:ea typeface="Roboto Mono"/>
                <a:cs typeface="Roboto Mono"/>
                <a:sym typeface="Roboto Mono"/>
              </a:rPr>
              <a:t>19.99</a:t>
            </a:r>
            <a:endParaRPr sz="1400">
              <a:solidFill>
                <a:srgbClr val="FA903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total_cost = </a:t>
            </a:r>
            <a:r>
              <a:rPr lang="en-US" sz="1400">
                <a:solidFill>
                  <a:srgbClr val="FA903E"/>
                </a:solidFill>
                <a:latin typeface="Roboto Mono"/>
                <a:ea typeface="Roboto Mono"/>
                <a:cs typeface="Roboto Mono"/>
                <a:sym typeface="Roboto Mono"/>
              </a:rPr>
              <a:t>19999.5678</a:t>
            </a:r>
            <a:endParaRPr sz="1400">
              <a:solidFill>
                <a:srgbClr val="FA903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formatted_price = 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f"The item costs $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{price:.2f}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1400">
              <a:solidFill>
                <a:srgbClr val="81C99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formatted_total = 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f"Your total is $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{total_cost:,.2f}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1400">
              <a:solidFill>
                <a:srgbClr val="81C99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print(formatted_price)</a:t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print(formatted_total)</a:t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128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ct val="100000"/>
              <a:buChar char="●"/>
            </a:pPr>
            <a:r>
              <a:rPr lang="en-US" sz="1635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:.2f</a:t>
            </a:r>
            <a:r>
              <a:rPr lang="en-US" sz="1635">
                <a:solidFill>
                  <a:schemeClr val="accent5"/>
                </a:solidFill>
                <a:highlight>
                  <a:srgbClr val="1F1F1F"/>
                </a:highlight>
              </a:rPr>
              <a:t>: Formats a float to two decimal places.</a:t>
            </a:r>
            <a:endParaRPr sz="1635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-30128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Char char="●"/>
            </a:pPr>
            <a:r>
              <a:rPr lang="en-US" sz="1635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:,.2f</a:t>
            </a:r>
            <a:r>
              <a:rPr lang="en-US" sz="1635">
                <a:solidFill>
                  <a:schemeClr val="accent5"/>
                </a:solidFill>
                <a:highlight>
                  <a:srgbClr val="1F1F1F"/>
                </a:highlight>
              </a:rPr>
              <a:t>: Formats a float to two decimal places and adds a thousands separator.</a:t>
            </a:r>
            <a:endParaRPr sz="1635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The item costs $19</a:t>
            </a:r>
            <a:r>
              <a:rPr lang="en-US" sz="1400">
                <a:solidFill>
                  <a:srgbClr val="FA903E"/>
                </a:solidFill>
                <a:latin typeface="Roboto Mono"/>
                <a:ea typeface="Roboto Mono"/>
                <a:cs typeface="Roboto Mono"/>
                <a:sym typeface="Roboto Mono"/>
              </a:rPr>
              <a:t>.99</a:t>
            </a:r>
            <a:endParaRPr sz="1400">
              <a:solidFill>
                <a:srgbClr val="FA903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Your total </a:t>
            </a:r>
            <a:r>
              <a:rPr lang="en-US" sz="1400">
                <a:solidFill>
                  <a:srgbClr val="C58AF9"/>
                </a:solidFill>
                <a:latin typeface="Roboto Mono"/>
                <a:ea typeface="Roboto Mono"/>
                <a:cs typeface="Roboto Mono"/>
                <a:sym typeface="Roboto Mono"/>
              </a:rPr>
              <a:t>is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$19,999.57</a:t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399300" y="3160475"/>
            <a:ext cx="7254000" cy="723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237525" y="2737000"/>
            <a:ext cx="8345400" cy="960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Alignment and Padding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item = 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"Laptop"</a:t>
            </a:r>
            <a:endParaRPr sz="1400">
              <a:solidFill>
                <a:srgbClr val="81C99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quantity = </a:t>
            </a:r>
            <a:r>
              <a:rPr lang="en-US" sz="1400">
                <a:solidFill>
                  <a:srgbClr val="FA903E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400">
              <a:solidFill>
                <a:srgbClr val="FA903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padded_item = 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f"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{item:&lt;15}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{quantity:&gt;5d}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1400">
              <a:solidFill>
                <a:srgbClr val="81C99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print(padded_item)</a:t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</a:pP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:&lt;15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: Left-aligns the string within a field of 15 characters.</a:t>
            </a:r>
            <a:endParaRPr sz="120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</a:pP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:&gt;5d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: Right-aligns the integer within a field of 5 characters.</a:t>
            </a:r>
            <a:endParaRPr sz="120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</a:pP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Date and Time Formatting (using </a:t>
            </a: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 module):</a:t>
            </a:r>
            <a:endParaRPr sz="120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Laptop              2</a:t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5988425" y="770975"/>
            <a:ext cx="3191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Use Gemini/Google Search to learn what alignment characters are in Python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Example: Print out tables with aligned columns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address_book = [{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'name'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'N.X.'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'addr'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'15 Jones St'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'bonus'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4765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70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},</a:t>
            </a:r>
            <a:endParaRPr sz="4765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'name'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'J.P.'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'addr'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'1005 5th St'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'bonus'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4765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400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},</a:t>
            </a:r>
            <a:endParaRPr sz="4765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  {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'name'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'A.A.'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'addr'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'200001 Bdwy'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'bonus'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4765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},]</a:t>
            </a:r>
            <a:endParaRPr sz="4765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765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4765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person </a:t>
            </a:r>
            <a:r>
              <a:rPr lang="en-US" sz="4765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address_book:</a:t>
            </a:r>
            <a:endParaRPr sz="4765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4765">
                <a:solidFill>
                  <a:srgbClr val="D7AE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f'{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person[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:8} || {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person[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"addr"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:20} || {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person[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"bonus"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en-US" sz="4765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:&gt;5}'</a:t>
            </a: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4765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765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4765">
                <a:solidFill>
                  <a:srgbClr val="FF8BC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# N.X.     || 15 Jones St          ||    70</a:t>
            </a:r>
            <a:endParaRPr sz="4765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4765">
                <a:solidFill>
                  <a:srgbClr val="FF8BC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# J.P.     || 1005 5th St          ||   400</a:t>
            </a:r>
            <a:endParaRPr sz="4765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228600" rtl="0" algn="l">
              <a:lnSpc>
                <a:spcPct val="142857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765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4765">
                <a:solidFill>
                  <a:srgbClr val="FF8BC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# A.A.     || 200001 Bdwy          ||     5</a:t>
            </a:r>
            <a:endParaRPr sz="4765">
              <a:solidFill>
                <a:srgbClr val="FF8BCB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5576050" y="3603800"/>
            <a:ext cx="360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Now center-align the name and address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 and Time Formatting (using </a:t>
            </a:r>
            <a:r>
              <a:rPr lang="en-US"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en-US"/>
              <a:t> module):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-US" sz="1400">
                <a:solidFill>
                  <a:srgbClr val="C58AF9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datetime</a:t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now = datetime.datetime.now()</a:t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formatted_date = 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f"Today is </a:t>
            </a: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{now:%A, %B %d, %Y}</a:t>
            </a:r>
            <a:r>
              <a:rPr lang="en-US" sz="1400">
                <a:solidFill>
                  <a:srgbClr val="81C995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1400">
              <a:solidFill>
                <a:srgbClr val="81C99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print(formatted_date)	</a:t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</a:pP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%A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: Full weekday name.</a:t>
            </a:r>
            <a:endParaRPr sz="120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</a:pP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%B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: Full month name.</a:t>
            </a:r>
            <a:endParaRPr sz="120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</a:pP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%d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: Day of the month as a zero-padded decimal number.</a:t>
            </a:r>
            <a:endParaRPr sz="120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</a:pPr>
            <a:r>
              <a:rPr lang="en-US" sz="1200">
                <a:solidFill>
                  <a:schemeClr val="accent5"/>
                </a:solidFill>
                <a:highlight>
                  <a:srgbClr val="2C303D"/>
                </a:highlight>
                <a:latin typeface="Roboto Mono"/>
                <a:ea typeface="Roboto Mono"/>
                <a:cs typeface="Roboto Mono"/>
                <a:sym typeface="Roboto Mono"/>
              </a:rPr>
              <a:t>%Y</a:t>
            </a:r>
            <a:r>
              <a:rPr lang="en-US" sz="1200">
                <a:solidFill>
                  <a:schemeClr val="accent5"/>
                </a:solidFill>
                <a:highlight>
                  <a:srgbClr val="1F1F1F"/>
                </a:highlight>
              </a:rPr>
              <a:t>: Year with century as a decimal number.</a:t>
            </a:r>
            <a:endParaRPr sz="120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400">
                <a:solidFill>
                  <a:srgbClr val="E6E8F0"/>
                </a:solidFill>
                <a:latin typeface="Roboto Mono"/>
                <a:ea typeface="Roboto Mono"/>
                <a:cs typeface="Roboto Mono"/>
                <a:sym typeface="Roboto Mono"/>
              </a:rPr>
              <a:t>   Today is Wednesday, November 19, 2025</a:t>
            </a:r>
            <a:endParaRPr sz="1400">
              <a:solidFill>
                <a:srgbClr val="E6E8F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6" name="Google Shape;126;p23"/>
          <p:cNvSpPr/>
          <p:nvPr/>
        </p:nvSpPr>
        <p:spPr>
          <a:xfrm>
            <a:off x="371825" y="2757650"/>
            <a:ext cx="8386800" cy="1239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3" title="Screenshot 2025-12-01 at 12.45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175" y="1349425"/>
            <a:ext cx="2187400" cy="383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3"/>
          <p:cNvCxnSpPr>
            <a:endCxn id="127" idx="1"/>
          </p:cNvCxnSpPr>
          <p:nvPr/>
        </p:nvCxnSpPr>
        <p:spPr>
          <a:xfrm flipH="1" rot="10800000">
            <a:off x="3908575" y="1541212"/>
            <a:ext cx="1380600" cy="18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3"/>
          <p:cNvSpPr txBox="1"/>
          <p:nvPr/>
        </p:nvSpPr>
        <p:spPr>
          <a:xfrm>
            <a:off x="5163650" y="3007850"/>
            <a:ext cx="346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These are predefined codes you can look up when needed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f-String Exercises 1 &amp; 2</a:t>
            </a:r>
            <a:endParaRPr/>
          </a:p>
        </p:txBody>
      </p:sp>
      <p:pic>
        <p:nvPicPr>
          <p:cNvPr id="135" name="Google Shape;135;p24" title="Screenshot 2025-11-30 at 9.15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85874"/>
            <a:ext cx="4772674" cy="242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 title="Screenshot 2025-11-30 at 9.16.5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6868" y="1585875"/>
            <a:ext cx="4433300" cy="25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f-String Exercises 3 &amp; 4</a:t>
            </a:r>
            <a:endParaRPr/>
          </a:p>
        </p:txBody>
      </p:sp>
      <p:pic>
        <p:nvPicPr>
          <p:cNvPr id="142" name="Google Shape;142;p25" title="Screenshot 2025-11-30 at 9.18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239700"/>
            <a:ext cx="4156425" cy="30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 title="Screenshot 2025-11-30 at 9.19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323" y="1239700"/>
            <a:ext cx="4371077" cy="2243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f-String Exercises 6 &amp; 8</a:t>
            </a:r>
            <a:endParaRPr/>
          </a:p>
        </p:txBody>
      </p:sp>
      <p:pic>
        <p:nvPicPr>
          <p:cNvPr id="149" name="Google Shape;149;p26" title="Screenshot 2025-11-30 at 9.21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04075"/>
            <a:ext cx="4699151" cy="174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 title="Screenshot 2025-11-30 at 9.22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1326" y="1504075"/>
            <a:ext cx="3828348" cy="3050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Program Exercise</a:t>
            </a:r>
            <a:endParaRPr/>
          </a:p>
        </p:txBody>
      </p:sp>
      <p:pic>
        <p:nvPicPr>
          <p:cNvPr id="156" name="Google Shape;156;p27" title="Screenshot 2025-12-01 at 12.24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541426" cy="331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/>
        </p:nvSpPr>
        <p:spPr>
          <a:xfrm>
            <a:off x="4346625" y="644500"/>
            <a:ext cx="4668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# Step 1 — Create variables for each student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name1 = "Alice"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score1 = 85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name2 = "Bob"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score2 = 92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name3 = "Charlie”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score3 = 58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# Step 2 — Print the table header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print(f"{'Name':&lt;10} {'Score':&lt;6} {'Result':&lt;6}")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print("-" * 28)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# Step 3 — Print each row using f-strings with an if/else expression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print( ___________________________________________ )   # Row 1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print( ___________________________________________ )   # Row 2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2"/>
                </a:solidFill>
              </a:rPr>
              <a:t>print( ___________________________________________ )   # Row 3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5215950" y="273675"/>
            <a:ext cx="39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Starter Code: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9288875" y="-627850"/>
            <a:ext cx="917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String %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String Formatting with % Operator</a:t>
            </a:r>
            <a:endParaRPr sz="2520"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Python supports a printf-style format with </a:t>
            </a:r>
            <a:r>
              <a:rPr lang="en-US">
                <a:solidFill>
                  <a:schemeClr val="accent5"/>
                </a:solidFill>
              </a:rPr>
              <a:t>'%' </a:t>
            </a:r>
            <a:r>
              <a:rPr lang="en-US"/>
              <a:t>operator, formatting strings similar to C-style syntax.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Type specifiers include </a:t>
            </a:r>
            <a:r>
              <a:rPr lang="en-US">
                <a:solidFill>
                  <a:schemeClr val="accent5"/>
                </a:solidFill>
              </a:rPr>
              <a:t>%d, %s, %f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r>
              <a:rPr lang="en-US"/>
              <a:t>◦ Multiple values provided in a tuple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lang="en-US" sz="11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100">
                <a:solidFill>
                  <a:srgbClr val="FF8BC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# % operator</a:t>
            </a:r>
            <a:endParaRPr sz="800">
              <a:solidFill>
                <a:srgbClr val="F1F3F4"/>
              </a:solidFill>
              <a:highlight>
                <a:srgbClr val="28314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28600" marR="228600" rtl="0" algn="l">
              <a:lnSpc>
                <a:spcPct val="142857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  </a:t>
            </a:r>
            <a:endParaRPr sz="900"/>
          </a:p>
        </p:txBody>
      </p:sp>
      <p:pic>
        <p:nvPicPr>
          <p:cNvPr id="171" name="Google Shape;171;p29" title="Screenshot 2025-11-19 at 9.26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09575"/>
            <a:ext cx="8991598" cy="36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/>
          <p:nvPr/>
        </p:nvSpPr>
        <p:spPr>
          <a:xfrm>
            <a:off x="6940625" y="3367025"/>
            <a:ext cx="2148300" cy="475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29"/>
          <p:cNvCxnSpPr>
            <a:endCxn id="172" idx="0"/>
          </p:cNvCxnSpPr>
          <p:nvPr/>
        </p:nvCxnSpPr>
        <p:spPr>
          <a:xfrm>
            <a:off x="4260275" y="2633825"/>
            <a:ext cx="3754500" cy="733200"/>
          </a:xfrm>
          <a:prstGeom prst="bentConnector2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tuple?</a:t>
            </a:r>
            <a:endParaRPr/>
          </a:p>
        </p:txBody>
      </p:sp>
      <p:pic>
        <p:nvPicPr>
          <p:cNvPr id="179" name="Google Shape;179;p30" title="Screenshot 2025-11-30 at 9.29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25" y="1017725"/>
            <a:ext cx="5478627" cy="281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 title="Screenshot 2025-11-30 at 9.30.3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9325" y="1078700"/>
            <a:ext cx="2992975" cy="332274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/>
          <p:nvPr/>
        </p:nvSpPr>
        <p:spPr>
          <a:xfrm>
            <a:off x="4787725" y="2622575"/>
            <a:ext cx="732000" cy="27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Examples in C and C++ programming languages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C: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/>
              <a:t>C++:</a:t>
            </a:r>
            <a:endParaRPr sz="3000"/>
          </a:p>
        </p:txBody>
      </p:sp>
      <p:pic>
        <p:nvPicPr>
          <p:cNvPr id="188" name="Google Shape;188;p31" title="Screenshot 2025-11-19 at 9.29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550" y="1152475"/>
            <a:ext cx="5103474" cy="170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1" title="Screenshot 2025-11-19 at 9.31.0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5900" y="3189750"/>
            <a:ext cx="4948974" cy="164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 txBox="1"/>
          <p:nvPr/>
        </p:nvSpPr>
        <p:spPr>
          <a:xfrm>
            <a:off x="6725400" y="2168950"/>
            <a:ext cx="2106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What other differences can you see between </a:t>
            </a:r>
            <a:r>
              <a:rPr lang="en-US" sz="1800">
                <a:solidFill>
                  <a:srgbClr val="FF0000"/>
                </a:solidFill>
              </a:rPr>
              <a:t>this</a:t>
            </a:r>
            <a:r>
              <a:rPr lang="en-US" sz="1800">
                <a:solidFill>
                  <a:srgbClr val="FF0000"/>
                </a:solidFill>
              </a:rPr>
              <a:t> syntax and Python syntax?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Parentheses allow breaks across lines</a:t>
            </a:r>
            <a:endParaRPr/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200">
                <a:solidFill>
                  <a:srgbClr val="FF8BC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# Add parentheses to make the long line work:</a:t>
            </a:r>
            <a:endParaRPr sz="12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2860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text = (</a:t>
            </a:r>
            <a:endParaRPr sz="12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2860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12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"%d little pigs come out, or I'll %s, and I'll %s, and I'll blow your %s down."</a:t>
            </a:r>
            <a:endParaRPr sz="12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2860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% (</a:t>
            </a:r>
            <a:r>
              <a:rPr lang="en-US" sz="1200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2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'huff'</a:t>
            </a: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2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'puff'</a:t>
            </a: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2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'house'</a:t>
            </a: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2860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9CCC6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5"/>
                </a:solidFill>
              </a:rPr>
              <a:t>• Parentheses allow long format strings to break across lines for improved readability.</a:t>
            </a:r>
            <a:endParaRPr sz="15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5"/>
                </a:solidFill>
              </a:rPr>
              <a:t>  ◦ Ensures clean, maintainable code</a:t>
            </a:r>
            <a:endParaRPr sz="15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5"/>
                </a:solidFill>
              </a:rPr>
              <a:t>  ◦ Grouping helps avoid line length issues</a:t>
            </a:r>
            <a:endParaRPr sz="800">
              <a:solidFill>
                <a:schemeClr val="accent5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/>
          <p:nvPr/>
        </p:nvSpPr>
        <p:spPr>
          <a:xfrm>
            <a:off x="216900" y="2385825"/>
            <a:ext cx="8386800" cy="1239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2"/>
          <p:cNvSpPr txBox="1"/>
          <p:nvPr/>
        </p:nvSpPr>
        <p:spPr>
          <a:xfrm>
            <a:off x="1859100" y="4048700"/>
            <a:ext cx="59490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Why do you need this in Python?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Automatic Concatenation of Strings across lines</a:t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600">
                <a:solidFill>
                  <a:srgbClr val="FF8BC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# Split the line into chunks, which are concatenated automatically by Python</a:t>
            </a:r>
            <a:endParaRPr sz="16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text = (</a:t>
            </a:r>
            <a:endParaRPr sz="16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16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"%d little pigs come out, "</a:t>
            </a:r>
            <a:endParaRPr sz="16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16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"or I'll %s, and I'll %s, "</a:t>
            </a:r>
            <a:endParaRPr sz="16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16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"and I'll blow your %s down."</a:t>
            </a:r>
            <a:endParaRPr sz="16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28600" marR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% (</a:t>
            </a:r>
            <a:r>
              <a:rPr lang="en-US" sz="1600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16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6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'huff'</a:t>
            </a:r>
            <a:r>
              <a:rPr lang="en-US" sz="16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6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'puff'</a:t>
            </a:r>
            <a:r>
              <a:rPr lang="en-US" sz="16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6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'house'</a:t>
            </a:r>
            <a:r>
              <a:rPr lang="en-US" sz="16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6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• Automatic concatenation of strings allows splitting long format strings into manageable parts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◦ Each segment is automatically combined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  ◦ Helps maintain clarity and structure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05" name="Google Shape;205;p33"/>
          <p:cNvSpPr/>
          <p:nvPr/>
        </p:nvSpPr>
        <p:spPr>
          <a:xfrm>
            <a:off x="311700" y="3329575"/>
            <a:ext cx="8386800" cy="1239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Statements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Python if Statements</a:t>
            </a:r>
            <a:endParaRPr sz="2520"/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Python uses colons and indentation instead of braces to define blocks of code for if/loops/functions.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Indentation is mandatory (</a:t>
            </a:r>
            <a:r>
              <a:rPr lang="en-US"/>
              <a:t>Improves code readability and structure)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Boolean test does not need to be inside parentheses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/>
              <a:t>Falsy values: None, 0, empty string, empty list, empty dictionary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Boolean type: </a:t>
            </a:r>
            <a:r>
              <a:rPr lang="en-US">
                <a:solidFill>
                  <a:schemeClr val="accent5"/>
                </a:solidFill>
              </a:rPr>
              <a:t>True </a:t>
            </a:r>
            <a:r>
              <a:rPr lang="en-US"/>
              <a:t>(converts to 1) and </a:t>
            </a:r>
            <a:r>
              <a:rPr lang="en-US">
                <a:solidFill>
                  <a:schemeClr val="accent5"/>
                </a:solidFill>
              </a:rPr>
              <a:t>False </a:t>
            </a:r>
            <a:r>
              <a:rPr lang="en-US"/>
              <a:t>(converts to 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*elif* </a:t>
            </a:r>
            <a:r>
              <a:rPr lang="en-US"/>
              <a:t>and </a:t>
            </a:r>
            <a:r>
              <a:rPr lang="en-US">
                <a:solidFill>
                  <a:schemeClr val="accent5"/>
                </a:solidFill>
              </a:rPr>
              <a:t>*else*</a:t>
            </a:r>
            <a:r>
              <a:rPr lang="en-US"/>
              <a:t> clauses (</a:t>
            </a:r>
            <a:r>
              <a:rPr lang="en-US">
                <a:solidFill>
                  <a:schemeClr val="accent5"/>
                </a:solidFill>
              </a:rPr>
              <a:t>elif </a:t>
            </a:r>
            <a:r>
              <a:rPr lang="en-US"/>
              <a:t>has a condition; </a:t>
            </a:r>
            <a:r>
              <a:rPr lang="en-US">
                <a:solidFill>
                  <a:schemeClr val="accent5"/>
                </a:solidFill>
              </a:rPr>
              <a:t>else </a:t>
            </a:r>
            <a:r>
              <a:rPr lang="en-US"/>
              <a:t>is optional)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Example: nested if statement with elif/else</a:t>
            </a:r>
            <a:endParaRPr/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400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time_hour &gt;= </a:t>
            </a:r>
            <a:r>
              <a:rPr lang="en-US" sz="1400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400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time_hour &lt;= </a:t>
            </a:r>
            <a:r>
              <a:rPr lang="en-US" sz="1400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24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1400">
                <a:solidFill>
                  <a:srgbClr val="D7AE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'Suggesting a drink option...'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1400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mood == 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'sleepy'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400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time_hour &lt; </a:t>
            </a:r>
            <a:r>
              <a:rPr lang="en-US" sz="1400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-US" sz="1400">
                <a:solidFill>
                  <a:srgbClr val="D7AE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'coffee'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1400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elif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mood == 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'thirsty'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400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or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time_hour &lt; </a:t>
            </a:r>
            <a:r>
              <a:rPr lang="en-US" sz="1400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-US" sz="1400">
                <a:solidFill>
                  <a:srgbClr val="D7AE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'lemonade'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-US" sz="1400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n-US" sz="1400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lse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28600" marR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-US" sz="1400">
                <a:solidFill>
                  <a:srgbClr val="D7AE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'water'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6"/>
          <p:cNvSpPr txBox="1"/>
          <p:nvPr/>
        </p:nvSpPr>
        <p:spPr>
          <a:xfrm>
            <a:off x="5702700" y="1094225"/>
            <a:ext cx="312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Notice the indentation block structures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24" name="Google Shape;224;p36"/>
          <p:cNvSpPr txBox="1"/>
          <p:nvPr/>
        </p:nvSpPr>
        <p:spPr>
          <a:xfrm>
            <a:off x="5702700" y="2881475"/>
            <a:ext cx="312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What is printed if mood is “hungry” and time_hour is 1?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25" name="Google Shape;225;p36"/>
          <p:cNvSpPr txBox="1"/>
          <p:nvPr/>
        </p:nvSpPr>
        <p:spPr>
          <a:xfrm>
            <a:off x="5702700" y="3829975"/>
            <a:ext cx="327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What is printed if mood is “happy” and time_hour is 11?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26" name="Google Shape;226;p36"/>
          <p:cNvSpPr txBox="1"/>
          <p:nvPr/>
        </p:nvSpPr>
        <p:spPr>
          <a:xfrm>
            <a:off x="5763474" y="1987850"/>
            <a:ext cx="327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What is printed if mood is “sleepy” and time_hour is 13?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and Boolean Operators </a:t>
            </a:r>
            <a:endParaRPr/>
          </a:p>
        </p:txBody>
      </p:sp>
      <p:sp>
        <p:nvSpPr>
          <p:cNvPr id="232" name="Google Shape;23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The if statement checks a condition that returns true or false, without requiring parentheses.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Conditions determine the flow of logic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Boolean operations guide decision-making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For Boolean operators, use </a:t>
            </a:r>
            <a:r>
              <a:rPr lang="en-US">
                <a:solidFill>
                  <a:schemeClr val="accent5"/>
                </a:solidFill>
              </a:rPr>
              <a:t>“and”</a:t>
            </a:r>
            <a:r>
              <a:rPr lang="en-US"/>
              <a:t>, </a:t>
            </a:r>
            <a:r>
              <a:rPr lang="en-US">
                <a:solidFill>
                  <a:schemeClr val="accent5"/>
                </a:solidFill>
              </a:rPr>
              <a:t>“or”, “not” </a:t>
            </a:r>
            <a:r>
              <a:rPr lang="en-US"/>
              <a:t> → No C-style '&amp;&amp;', '||', or '!' operators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Comparison operations can be used on strings: </a:t>
            </a:r>
            <a:r>
              <a:rPr lang="en-US">
                <a:solidFill>
                  <a:schemeClr val="accent5"/>
                </a:solidFill>
              </a:rPr>
              <a:t>==, !=, &lt;, &lt;=, &gt;, &gt;=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Example: </a:t>
            </a:r>
            <a:r>
              <a:rPr lang="en-US">
                <a:solidFill>
                  <a:schemeClr val="accent4"/>
                </a:solidFill>
              </a:rPr>
              <a:t>mood == 'sleepy' and time_hour &lt; 10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 Code can be on the Same Line (by preference)</a:t>
            </a:r>
            <a:endParaRPr/>
          </a:p>
        </p:txBody>
      </p:sp>
      <p:sp>
        <p:nvSpPr>
          <p:cNvPr id="238" name="Google Shape;23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400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time_hour &lt; </a:t>
            </a:r>
            <a:r>
              <a:rPr lang="en-US" sz="1400">
                <a:solidFill>
                  <a:srgbClr val="FBBC0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D7AE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print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'coffee'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228600" rtl="0" algn="l">
              <a:lnSpc>
                <a:spcPct val="142857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400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US" sz="1400">
                <a:solidFill>
                  <a:srgbClr val="D7AE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4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'water'</a:t>
            </a:r>
            <a:r>
              <a:rPr lang="en-US" sz="14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2860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8"/>
          <p:cNvSpPr txBox="1"/>
          <p:nvPr/>
        </p:nvSpPr>
        <p:spPr>
          <a:xfrm>
            <a:off x="4947275" y="1786775"/>
            <a:ext cx="358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Now write the code out on separate lines with proper indentation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Coding Exercises with Strings and If statements</a:t>
            </a:r>
            <a:endParaRPr/>
          </a:p>
        </p:txBody>
      </p:sp>
      <p:sp>
        <p:nvSpPr>
          <p:cNvPr id="245" name="Google Shape;24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O</a:t>
            </a:r>
            <a:r>
              <a:rPr lang="en-US">
                <a:solidFill>
                  <a:schemeClr val="accent4"/>
                </a:solidFill>
              </a:rPr>
              <a:t>pen up </a:t>
            </a:r>
            <a:r>
              <a:rPr lang="en-US">
                <a:solidFill>
                  <a:srgbClr val="33BD80"/>
                </a:solidFill>
              </a:rPr>
              <a:t>string2.py </a:t>
            </a:r>
            <a:r>
              <a:rPr lang="en-US">
                <a:solidFill>
                  <a:schemeClr val="accent4"/>
                </a:solidFill>
              </a:rPr>
              <a:t>in Zed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As you’re still learning to code, try using pseudocode outline to organize your thoughts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.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Solve problem </a:t>
            </a:r>
            <a:r>
              <a:rPr lang="en-US">
                <a:solidFill>
                  <a:srgbClr val="33BD80"/>
                </a:solidFill>
              </a:rPr>
              <a:t>D</a:t>
            </a:r>
            <a:r>
              <a:rPr lang="en-US">
                <a:solidFill>
                  <a:srgbClr val="33BD80"/>
                </a:solidFill>
              </a:rPr>
              <a:t>. verbing  =&gt; need to use slice to get last 3 letters s[-3:]</a:t>
            </a:r>
            <a:endParaRPr>
              <a:solidFill>
                <a:srgbClr val="33BD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Solve problem </a:t>
            </a:r>
            <a:r>
              <a:rPr lang="en-US">
                <a:solidFill>
                  <a:srgbClr val="33BD80"/>
                </a:solidFill>
              </a:rPr>
              <a:t>E</a:t>
            </a:r>
            <a:r>
              <a:rPr lang="en-US">
                <a:solidFill>
                  <a:srgbClr val="33BD80"/>
                </a:solidFill>
              </a:rPr>
              <a:t>. not_bad  =&gt; need to use find and replace</a:t>
            </a:r>
            <a:endParaRPr>
              <a:solidFill>
                <a:srgbClr val="33BD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Solve problem </a:t>
            </a:r>
            <a:r>
              <a:rPr lang="en-US">
                <a:solidFill>
                  <a:srgbClr val="33BD80"/>
                </a:solidFill>
              </a:rPr>
              <a:t>F. front_back =&gt; need to use len(a)//2 and len(a)%2</a:t>
            </a:r>
            <a:endParaRPr>
              <a:solidFill>
                <a:srgbClr val="33BD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BD80"/>
              </a:solidFill>
            </a:endParaRPr>
          </a:p>
          <a:p>
            <a:pPr indent="0" lvl="0" marL="190500" marR="190500" rtl="0" algn="l">
              <a:lnSpc>
                <a:spcPct val="1466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BD80"/>
                </a:solidFill>
              </a:rPr>
              <a:t>F. front_back exercise in </a:t>
            </a:r>
            <a:r>
              <a:rPr lang="en-US">
                <a:solidFill>
                  <a:schemeClr val="accent4"/>
                </a:solidFill>
              </a:rPr>
              <a:t>string2.py 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190500" rtl="0" algn="l">
              <a:lnSpc>
                <a:spcPct val="146668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solidFill>
                  <a:schemeClr val="accent5"/>
                </a:solidFill>
              </a:rPr>
              <a:t>le</a:t>
            </a:r>
            <a:r>
              <a:rPr b="1" lang="en-US" sz="1600">
                <a:solidFill>
                  <a:schemeClr val="accent5"/>
                </a:solidFill>
                <a:highlight>
                  <a:srgbClr val="222529"/>
                </a:highlight>
              </a:rPr>
              <a:t>n(a)//2 </a:t>
            </a:r>
            <a:r>
              <a:rPr lang="en-US" sz="1600">
                <a:highlight>
                  <a:srgbClr val="222529"/>
                </a:highlight>
              </a:rPr>
              <a:t>## this gives you the integer number if you divide the first number by the second number. so 3//2 == 1 and 4//2 == 2.</a:t>
            </a:r>
            <a:endParaRPr sz="1600">
              <a:highlight>
                <a:srgbClr val="1A1D21"/>
              </a:highlight>
            </a:endParaRPr>
          </a:p>
          <a:p>
            <a:pPr indent="-330200" lvl="0" marL="457200" marR="190500" rtl="0" algn="l">
              <a:lnSpc>
                <a:spcPct val="146668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solidFill>
                  <a:schemeClr val="accent5"/>
                </a:solidFill>
                <a:highlight>
                  <a:srgbClr val="1A1D21"/>
                </a:highlight>
              </a:rPr>
              <a:t>len(a)%2</a:t>
            </a:r>
            <a:r>
              <a:rPr lang="en-US" sz="1600">
                <a:highlight>
                  <a:srgbClr val="1A1D21"/>
                </a:highlight>
              </a:rPr>
              <a:t> ## this is the modulus operator and gives you what’s left if you divide the first number by the second number. so 3%2 == 1 and 4%2 == 0 </a:t>
            </a:r>
            <a:endParaRPr sz="1600">
              <a:highlight>
                <a:srgbClr val="1A1D21"/>
              </a:highlight>
            </a:endParaRPr>
          </a:p>
          <a:p>
            <a:pPr indent="-330200" lvl="0" marL="457200" marR="190500" rtl="0" algn="l">
              <a:lnSpc>
                <a:spcPct val="146668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highlight>
                  <a:srgbClr val="222529"/>
                </a:highlight>
              </a:rPr>
              <a:t>So if you want to determine if a string a is even or odd,</a:t>
            </a:r>
            <a:r>
              <a:rPr lang="en-US" sz="1600">
                <a:solidFill>
                  <a:schemeClr val="accent5"/>
                </a:solidFill>
                <a:highlight>
                  <a:srgbClr val="222529"/>
                </a:highlight>
              </a:rPr>
              <a:t> </a:t>
            </a:r>
            <a:r>
              <a:rPr b="1" lang="en-US" sz="1600">
                <a:solidFill>
                  <a:schemeClr val="accent5"/>
                </a:solidFill>
                <a:highlight>
                  <a:srgbClr val="222529"/>
                </a:highlight>
              </a:rPr>
              <a:t>len(a) % 2 == 0</a:t>
            </a:r>
            <a:r>
              <a:rPr lang="en-US" sz="1600">
                <a:solidFill>
                  <a:schemeClr val="accent5"/>
                </a:solidFill>
                <a:highlight>
                  <a:srgbClr val="222529"/>
                </a:highlight>
              </a:rPr>
              <a:t> </a:t>
            </a:r>
            <a:r>
              <a:rPr lang="en-US" sz="1600">
                <a:highlight>
                  <a:srgbClr val="222529"/>
                </a:highlight>
              </a:rPr>
              <a:t>means it’s even, else it’s odd</a:t>
            </a:r>
            <a:endParaRPr sz="1600">
              <a:highlight>
                <a:srgbClr val="1A1D21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311700" y="445025"/>
            <a:ext cx="3505500" cy="5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Long Solution to front_back</a:t>
            </a:r>
            <a:endParaRPr/>
          </a:p>
        </p:txBody>
      </p:sp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476550" y="1428350"/>
            <a:ext cx="3175800" cy="31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</a:rPr>
              <a:t>Pseudocode: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If string </a:t>
            </a:r>
            <a:r>
              <a:rPr lang="en-US">
                <a:solidFill>
                  <a:schemeClr val="accent4"/>
                </a:solidFill>
              </a:rPr>
              <a:t>a </a:t>
            </a:r>
            <a:r>
              <a:rPr lang="en-US"/>
              <a:t>is even, split </a:t>
            </a:r>
            <a:r>
              <a:rPr lang="en-US">
                <a:solidFill>
                  <a:srgbClr val="FA903E"/>
                </a:solidFill>
              </a:rPr>
              <a:t>a </a:t>
            </a:r>
            <a:r>
              <a:rPr lang="en-US"/>
              <a:t>into two even halves. Otherwise if it’s odd, give the extra char to the first half.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Repeat</a:t>
            </a:r>
            <a:r>
              <a:rPr lang="en-US"/>
              <a:t> for string </a:t>
            </a:r>
            <a:r>
              <a:rPr lang="en-US">
                <a:solidFill>
                  <a:schemeClr val="accent4"/>
                </a:solidFill>
              </a:rPr>
              <a:t>b.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Recombine the two strings.</a:t>
            </a:r>
            <a:endParaRPr/>
          </a:p>
        </p:txBody>
      </p:sp>
      <p:pic>
        <p:nvPicPr>
          <p:cNvPr id="258" name="Google Shape;258;p41" title="Screenshot 2026-01-15 at 10.42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0375" y="474087"/>
            <a:ext cx="4703850" cy="41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Short Solution to front_back</a:t>
            </a:r>
            <a:endParaRPr/>
          </a:p>
        </p:txBody>
      </p:sp>
      <p:sp>
        <p:nvSpPr>
          <p:cNvPr id="264" name="Google Shape;264;p42"/>
          <p:cNvSpPr txBox="1"/>
          <p:nvPr>
            <p:ph idx="1" type="body"/>
          </p:nvPr>
        </p:nvSpPr>
        <p:spPr>
          <a:xfrm>
            <a:off x="311700" y="1152475"/>
            <a:ext cx="3505500" cy="3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</a:rPr>
              <a:t>Pseudocode: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Assign the front half of str </a:t>
            </a:r>
            <a:r>
              <a:rPr lang="en-US">
                <a:solidFill>
                  <a:schemeClr val="accent4"/>
                </a:solidFill>
              </a:rPr>
              <a:t>a </a:t>
            </a:r>
            <a:r>
              <a:rPr lang="en-US"/>
              <a:t>to half the length plus any remainders.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(</a:t>
            </a:r>
            <a:r>
              <a:rPr i="1" lang="en-US"/>
              <a:t>Even length string will have no remainder, while odd length string will have remainder 1</a:t>
            </a:r>
            <a:r>
              <a:rPr lang="en-US"/>
              <a:t>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Assign the back half of </a:t>
            </a:r>
            <a:r>
              <a:rPr lang="en-US">
                <a:solidFill>
                  <a:schemeClr val="accent4"/>
                </a:solidFill>
              </a:rPr>
              <a:t>a</a:t>
            </a:r>
            <a:r>
              <a:rPr lang="en-US"/>
              <a:t> to what’s left.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Repeat for str </a:t>
            </a:r>
            <a:r>
              <a:rPr lang="en-US">
                <a:solidFill>
                  <a:schemeClr val="accent4"/>
                </a:solidFill>
              </a:rPr>
              <a:t>b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Recombine the strings.</a:t>
            </a:r>
            <a:endParaRPr/>
          </a:p>
        </p:txBody>
      </p:sp>
      <p:pic>
        <p:nvPicPr>
          <p:cNvPr id="265" name="Google Shape;265;p42" title="Screenshot 2026-01-15 at 10.43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1050" y="1919550"/>
            <a:ext cx="5181250" cy="221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Test Multi-Lines of Python within Terminal</a:t>
            </a:r>
            <a:endParaRPr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>
                <a:solidFill>
                  <a:schemeClr val="dk1"/>
                </a:solidFill>
              </a:rPr>
              <a:t>Interpreter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Press Enter in the interpreter after you type the first 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Ctrl-D to get out interpreter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>
                <a:solidFill>
                  <a:schemeClr val="dk1"/>
                </a:solidFill>
              </a:rPr>
              <a:t>Create a File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Touch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newfile.py</a:t>
            </a:r>
            <a:r>
              <a:rPr lang="en-US"/>
              <a:t> to create the 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Nano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newfile.py</a:t>
            </a:r>
            <a:r>
              <a:rPr lang="en-US"/>
              <a:t>  (Nano is the file editor)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Ctrl-O to write/save file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Ctrl-X to exit file editor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Cat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newfile.py</a:t>
            </a:r>
            <a:r>
              <a:rPr lang="en-US"/>
              <a:t> to see its contents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Unicode and Bytes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Unicode?</a:t>
            </a:r>
            <a:endParaRPr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45" title="Screenshot 2025-11-30 at 6.59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5" y="1115050"/>
            <a:ext cx="8824274" cy="34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Unicode is the standard for handling languages</a:t>
            </a:r>
            <a:endParaRPr/>
          </a:p>
        </p:txBody>
      </p:sp>
      <p:pic>
        <p:nvPicPr>
          <p:cNvPr id="289" name="Google Shape;289;p46" title="Screen Shot 2026-01-07 at 20.49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500" y="1681950"/>
            <a:ext cx="695325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store </a:t>
            </a:r>
            <a:r>
              <a:rPr lang="en-US"/>
              <a:t>characters</a:t>
            </a:r>
            <a:r>
              <a:rPr lang="en-US"/>
              <a:t> on computers</a:t>
            </a:r>
            <a:endParaRPr/>
          </a:p>
        </p:txBody>
      </p:sp>
      <p:pic>
        <p:nvPicPr>
          <p:cNvPr id="295" name="Google Shape;295;p47" title="Screenshot 2025-11-30 at 7.00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79874"/>
            <a:ext cx="8612449" cy="31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UTF-8 encodes characters to bytes </a:t>
            </a:r>
            <a:endParaRPr/>
          </a:p>
        </p:txBody>
      </p:sp>
      <p:pic>
        <p:nvPicPr>
          <p:cNvPr id="301" name="Google Shape;301;p48" title="Screenshot 2025-11-30 at 7.05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75" y="1017725"/>
            <a:ext cx="7500575" cy="395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8" title="Screenshot 2025-11-30 at 7.07.5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3300" y="1952363"/>
            <a:ext cx="3638999" cy="162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Encoding and Decoding in Python</a:t>
            </a:r>
            <a:endParaRPr/>
          </a:p>
        </p:txBody>
      </p:sp>
      <p:pic>
        <p:nvPicPr>
          <p:cNvPr id="308" name="Google Shape;308;p49" title="Screenshot 2025-11-30 at 8.20.05 PM.png"/>
          <p:cNvPicPr preferRelativeResize="0"/>
          <p:nvPr/>
        </p:nvPicPr>
        <p:blipFill rotWithShape="1">
          <a:blip r:embed="rId3">
            <a:alphaModFix/>
          </a:blip>
          <a:srcRect b="0" l="0" r="31342" t="0"/>
          <a:stretch/>
        </p:blipFill>
        <p:spPr>
          <a:xfrm>
            <a:off x="311700" y="1713250"/>
            <a:ext cx="4328151" cy="190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 title="Screenshot 2025-11-30 at 8.20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8650" y="2788375"/>
            <a:ext cx="5555048" cy="164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UTF-8 in Python</a:t>
            </a:r>
            <a:endParaRPr/>
          </a:p>
        </p:txBody>
      </p:sp>
      <p:pic>
        <p:nvPicPr>
          <p:cNvPr id="315" name="Google Shape;315;p50" title="Screen Shot 2026-01-07 at 20.57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464" y="1257602"/>
            <a:ext cx="7827075" cy="15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0"/>
          <p:cNvSpPr txBox="1"/>
          <p:nvPr/>
        </p:nvSpPr>
        <p:spPr>
          <a:xfrm>
            <a:off x="1270150" y="2905000"/>
            <a:ext cx="710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AutoNum type="arabicPeriod"/>
            </a:pPr>
            <a:r>
              <a:rPr lang="en-US" sz="1800">
                <a:solidFill>
                  <a:schemeClr val="accent4"/>
                </a:solidFill>
              </a:rPr>
              <a:t>Opening and Saving Files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AutoNum type="arabicPeriod"/>
            </a:pPr>
            <a:r>
              <a:rPr lang="en-US" sz="1800">
                <a:solidFill>
                  <a:schemeClr val="accent4"/>
                </a:solidFill>
              </a:rPr>
              <a:t>Working with Network Data (Web APIs)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AutoNum type="arabicPeriod"/>
            </a:pPr>
            <a:r>
              <a:rPr lang="en-US" sz="1800">
                <a:solidFill>
                  <a:schemeClr val="accent4"/>
                </a:solidFill>
              </a:rPr>
              <a:t>Handling “UnicodeDecodeError”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AutoNum type="arabicPeriod"/>
            </a:pPr>
            <a:r>
              <a:rPr lang="en-US" sz="1800">
                <a:solidFill>
                  <a:schemeClr val="accent4"/>
                </a:solidFill>
              </a:rPr>
              <a:t>Interfacing with Older Databases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Opening and Saving Files</a:t>
            </a:r>
            <a:endParaRPr/>
          </a:p>
        </p:txBody>
      </p:sp>
      <p:pic>
        <p:nvPicPr>
          <p:cNvPr id="322" name="Google Shape;322;p51" title="Screen Shot 2026-01-07 at 20.59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850" y="1250925"/>
            <a:ext cx="7077075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51" title="Screen Shot 2026-01-07 at 21.00.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1050" y="3522475"/>
            <a:ext cx="462915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51"/>
          <p:cNvSpPr txBox="1"/>
          <p:nvPr/>
        </p:nvSpPr>
        <p:spPr>
          <a:xfrm>
            <a:off x="1455825" y="4276275"/>
            <a:ext cx="729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This code writes an emoji to a text file using utf-8 encoding.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Working with Network Data (Web APIs)</a:t>
            </a:r>
            <a:endParaRPr/>
          </a:p>
        </p:txBody>
      </p:sp>
      <p:pic>
        <p:nvPicPr>
          <p:cNvPr id="330" name="Google Shape;330;p52" title="Screen Shot 2026-01-07 at 21.00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123500"/>
            <a:ext cx="68580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2"/>
          <p:cNvSpPr txBox="1"/>
          <p:nvPr/>
        </p:nvSpPr>
        <p:spPr>
          <a:xfrm>
            <a:off x="1228425" y="4243775"/>
            <a:ext cx="685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n8n http request node decodes text data from api </a:t>
            </a:r>
            <a:r>
              <a:rPr lang="en-US" sz="1800">
                <a:solidFill>
                  <a:schemeClr val="lt2"/>
                </a:solidFill>
              </a:rPr>
              <a:t>calls</a:t>
            </a:r>
            <a:r>
              <a:rPr lang="en-US" sz="1800">
                <a:solidFill>
                  <a:schemeClr val="lt2"/>
                </a:solidFill>
              </a:rPr>
              <a:t> with utf-8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Handling “UnicodeDecodeError”</a:t>
            </a:r>
            <a:endParaRPr/>
          </a:p>
        </p:txBody>
      </p:sp>
      <p:pic>
        <p:nvPicPr>
          <p:cNvPr id="337" name="Google Shape;337;p53" title="Screen Shot 2026-01-07 at 21.01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75" y="1564150"/>
            <a:ext cx="8077201" cy="1843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Python handles Text</a:t>
            </a:r>
            <a:endParaRPr/>
          </a:p>
        </p:txBody>
      </p:sp>
      <p:pic>
        <p:nvPicPr>
          <p:cNvPr id="343" name="Google Shape;343;p54" title="Screen Shot 2026-01-07 at 21.06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201" y="1144400"/>
            <a:ext cx="7534499" cy="31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Python Strings: Unicode and Bytes</a:t>
            </a:r>
            <a:endParaRPr sz="2520"/>
          </a:p>
        </p:txBody>
      </p:sp>
      <p:sp>
        <p:nvSpPr>
          <p:cNvPr id="349" name="Google Shape;349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Python strings are unicode by default; however, byte strings can be created with a </a:t>
            </a:r>
            <a:r>
              <a:rPr lang="en-US">
                <a:solidFill>
                  <a:schemeClr val="accent5"/>
                </a:solidFill>
              </a:rPr>
              <a:t>'b'</a:t>
            </a:r>
            <a:r>
              <a:rPr lang="en-US"/>
              <a:t> prefix.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Byte strings useful for </a:t>
            </a:r>
            <a:r>
              <a:rPr i="1" lang="en-US"/>
              <a:t>binary data </a:t>
            </a:r>
            <a:r>
              <a:rPr lang="en-US"/>
              <a:t>(e.g. network data, binary files)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Preserve byte order across platforms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Conversion methods like </a:t>
            </a:r>
            <a:r>
              <a:rPr lang="en-US">
                <a:solidFill>
                  <a:schemeClr val="accent5"/>
                </a:solidFill>
              </a:rPr>
              <a:t>encode() </a:t>
            </a:r>
            <a:r>
              <a:rPr lang="en-US"/>
              <a:t>and </a:t>
            </a:r>
            <a:r>
              <a:rPr lang="en-US">
                <a:solidFill>
                  <a:schemeClr val="accent5"/>
                </a:solidFill>
              </a:rPr>
              <a:t>decode() </a:t>
            </a:r>
            <a:r>
              <a:rPr lang="en-US"/>
              <a:t>work between unicode and byte strings seamlessly.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Encoding uses formats like </a:t>
            </a:r>
            <a:r>
              <a:rPr lang="en-US">
                <a:solidFill>
                  <a:schemeClr val="accent5"/>
                </a:solidFill>
              </a:rPr>
              <a:t>'utf-8'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Ensures consistent data representation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Unicode and Bytes Strings</a:t>
            </a:r>
            <a:endParaRPr sz="2520"/>
          </a:p>
        </p:txBody>
      </p:sp>
      <p:sp>
        <p:nvSpPr>
          <p:cNvPr id="355" name="Google Shape;355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&gt; ustring = </a:t>
            </a:r>
            <a:r>
              <a:rPr lang="en-US" sz="12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'A unicode \u018e string \xf1'</a:t>
            </a:r>
            <a:endParaRPr sz="12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&gt; b = ustring.encode(</a:t>
            </a:r>
            <a:r>
              <a:rPr lang="en-US" sz="12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'utf-8'</a:t>
            </a: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&gt; b</a:t>
            </a:r>
            <a:endParaRPr sz="12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b'A unicode \xc6\x8e string \xc3\xb1'</a:t>
            </a: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200">
                <a:solidFill>
                  <a:srgbClr val="FF8BC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## bytes of utf-8 encoding. Note the b-prefix.</a:t>
            </a:r>
            <a:endParaRPr sz="12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&gt; t = b.decode(</a:t>
            </a:r>
            <a:r>
              <a:rPr lang="en-US" sz="1200">
                <a:solidFill>
                  <a:srgbClr val="9CCC65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'utf-8'</a:t>
            </a: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                </a:t>
            </a:r>
            <a:r>
              <a:rPr lang="en-US" sz="1200">
                <a:solidFill>
                  <a:srgbClr val="FF8BC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## Convert bytes back to a unicode string</a:t>
            </a:r>
            <a:endParaRPr sz="12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3F4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&gt; t == ustring                         </a:t>
            </a:r>
            <a:r>
              <a:rPr lang="en-US" sz="1200">
                <a:solidFill>
                  <a:srgbClr val="FF8BC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## It's the same as the original, yay!</a:t>
            </a:r>
            <a:endParaRPr sz="12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28600" marR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1F3F4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228600" marR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8D9EC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 sz="1500"/>
              <a:t>Conversion between unicode and bytes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/>
              <a:t>  ◦ Important for handling binary data in Python</a:t>
            </a:r>
            <a:endParaRPr sz="1500"/>
          </a:p>
        </p:txBody>
      </p:sp>
      <p:sp>
        <p:nvSpPr>
          <p:cNvPr id="356" name="Google Shape;356;p56"/>
          <p:cNvSpPr/>
          <p:nvPr/>
        </p:nvSpPr>
        <p:spPr>
          <a:xfrm>
            <a:off x="2476825" y="1074850"/>
            <a:ext cx="623100" cy="420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6"/>
          <p:cNvSpPr/>
          <p:nvPr/>
        </p:nvSpPr>
        <p:spPr>
          <a:xfrm>
            <a:off x="3785325" y="1090175"/>
            <a:ext cx="495000" cy="420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6"/>
          <p:cNvSpPr txBox="1"/>
          <p:nvPr/>
        </p:nvSpPr>
        <p:spPr>
          <a:xfrm>
            <a:off x="4965725" y="1069625"/>
            <a:ext cx="419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</a:rPr>
              <a:t>Non-ASCII Unicode characters</a:t>
            </a:r>
            <a:endParaRPr sz="1800">
              <a:solidFill>
                <a:schemeClr val="accent5"/>
              </a:solidFill>
            </a:endParaRPr>
          </a:p>
        </p:txBody>
      </p:sp>
      <p:cxnSp>
        <p:nvCxnSpPr>
          <p:cNvPr id="359" name="Google Shape;359;p56"/>
          <p:cNvCxnSpPr>
            <a:stCxn id="356" idx="0"/>
            <a:endCxn id="358" idx="0"/>
          </p:cNvCxnSpPr>
          <p:nvPr/>
        </p:nvCxnSpPr>
        <p:spPr>
          <a:xfrm rot="-5400000">
            <a:off x="4922125" y="-1064000"/>
            <a:ext cx="5100" cy="4272600"/>
          </a:xfrm>
          <a:prstGeom prst="bentConnector3">
            <a:avLst>
              <a:gd fmla="val 3054412" name="adj1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56"/>
          <p:cNvCxnSpPr>
            <a:stCxn id="357" idx="3"/>
            <a:endCxn id="358" idx="1"/>
          </p:cNvCxnSpPr>
          <p:nvPr/>
        </p:nvCxnSpPr>
        <p:spPr>
          <a:xfrm>
            <a:off x="4280325" y="1300475"/>
            <a:ext cx="6855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56"/>
          <p:cNvSpPr/>
          <p:nvPr/>
        </p:nvSpPr>
        <p:spPr>
          <a:xfrm>
            <a:off x="1495450" y="2081750"/>
            <a:ext cx="763200" cy="420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6"/>
          <p:cNvSpPr/>
          <p:nvPr/>
        </p:nvSpPr>
        <p:spPr>
          <a:xfrm>
            <a:off x="2940800" y="2081750"/>
            <a:ext cx="763200" cy="420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6"/>
          <p:cNvSpPr txBox="1"/>
          <p:nvPr/>
        </p:nvSpPr>
        <p:spPr>
          <a:xfrm>
            <a:off x="2246658" y="1848100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bytes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364" name="Google Shape;364;p56"/>
          <p:cNvSpPr txBox="1"/>
          <p:nvPr/>
        </p:nvSpPr>
        <p:spPr>
          <a:xfrm>
            <a:off x="8645525" y="6760650"/>
            <a:ext cx="897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365" name="Google Shape;365;p56" title="Screenshot 2025-11-30 at 8.57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3222" y="3140175"/>
            <a:ext cx="560173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6" name="Google Shape;366;p56"/>
          <p:cNvCxnSpPr/>
          <p:nvPr/>
        </p:nvCxnSpPr>
        <p:spPr>
          <a:xfrm>
            <a:off x="2632525" y="2525725"/>
            <a:ext cx="311700" cy="66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you might encounter byte strings</a:t>
            </a:r>
            <a:endParaRPr/>
          </a:p>
        </p:txBody>
      </p:sp>
      <p:pic>
        <p:nvPicPr>
          <p:cNvPr id="372" name="Google Shape;372;p57" title="Screen Shot 2026-01-07 at 21.25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925" y="1773938"/>
            <a:ext cx="685800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7"/>
          <p:cNvSpPr txBox="1"/>
          <p:nvPr/>
        </p:nvSpPr>
        <p:spPr>
          <a:xfrm>
            <a:off x="3145050" y="2446275"/>
            <a:ext cx="568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(because encryption is performed on bytes)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of Part Two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